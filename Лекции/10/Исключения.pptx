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256" r:id="rId2"/>
    <p:sldId id="319" r:id="rId3"/>
    <p:sldId id="361" r:id="rId4"/>
    <p:sldId id="381" r:id="rId5"/>
    <p:sldId id="362" r:id="rId6"/>
    <p:sldId id="382" r:id="rId7"/>
    <p:sldId id="385" r:id="rId8"/>
    <p:sldId id="388" r:id="rId9"/>
    <p:sldId id="38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86" r:id="rId22"/>
    <p:sldId id="387" r:id="rId23"/>
    <p:sldId id="375" r:id="rId24"/>
    <p:sldId id="376" r:id="rId25"/>
    <p:sldId id="377" r:id="rId26"/>
    <p:sldId id="378" r:id="rId27"/>
    <p:sldId id="379" r:id="rId28"/>
    <p:sldId id="380" r:id="rId29"/>
    <p:sldId id="26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7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6056" autoAdjust="0"/>
  </p:normalViewPr>
  <p:slideViewPr>
    <p:cSldViewPr snapToGrid="0">
      <p:cViewPr varScale="1">
        <p:scale>
          <a:sx n="107" d="100"/>
          <a:sy n="107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81D7-F947-4A2A-A7C5-DD6C9DD6979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6A695-CA41-4F4A-B206-B5558F938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697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26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106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53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93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31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54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06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683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08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0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76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C11EB-D329-41AC-A27B-AABF4C97971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760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en.cppreference.com/w/cpp/io/cout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62724" y="595533"/>
            <a:ext cx="6160140" cy="558354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 программирования С++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724" y="4747827"/>
            <a:ext cx="8543613" cy="1543239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Преподаватели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Пысин Максим Дмитриевич, ассистент кафедры ИКТ</a:t>
            </a: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Лобанов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Алексей Владимирович, аспирант кафедры ИКТ</a:t>
            </a: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Крашенинников Роман Сергеевич, аспирант кафедры ИКТ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960" y="2703547"/>
            <a:ext cx="10508080" cy="758409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pPr algn="ctr"/>
            <a:r>
              <a:rPr lang="ru-RU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Обработка </a:t>
            </a:r>
            <a:r>
              <a:rPr lang="ru-RU" sz="45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исключений</a:t>
            </a:r>
            <a:r>
              <a:rPr lang="ru-RU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948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 descr="C++: Коварство и Любовь, или Да что вообще может пойти не так? / Блог  компании SimbirSoft / Хабр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422" y="260567"/>
            <a:ext cx="8943157" cy="633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7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Обработка исключений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06994" y="1443841"/>
            <a:ext cx="1117801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</a:t>
            </a:r>
            <a:r>
              <a:rPr lang="ru-RU" b="1" dirty="0"/>
              <a:t>Обработка исключительных ситуаций </a:t>
            </a:r>
            <a:r>
              <a:rPr lang="ru-RU" dirty="0"/>
              <a:t>(англ</a:t>
            </a:r>
            <a:r>
              <a:rPr lang="ru-RU" dirty="0" smtClean="0"/>
              <a:t>. </a:t>
            </a:r>
            <a:r>
              <a:rPr lang="en-US" dirty="0"/>
              <a:t>exception </a:t>
            </a:r>
            <a:r>
              <a:rPr lang="en-US" dirty="0" smtClean="0"/>
              <a:t>handling</a:t>
            </a:r>
            <a:r>
              <a:rPr lang="ru-RU" dirty="0" smtClean="0"/>
              <a:t>) </a:t>
            </a:r>
            <a:r>
              <a:rPr lang="ru-RU" dirty="0"/>
              <a:t>— механизм языков программирования, предназначенный для описания реакции программы на ошибки времени выполнения и другие возможные проблемы (исключения), которые могут возникнуть при выполнении программы и приводят к невозможности (бессмысленности) дальнейшей отработки программой её базового алгоритма.</a:t>
            </a:r>
          </a:p>
          <a:p>
            <a:r>
              <a:rPr lang="ru-RU" dirty="0"/>
              <a:t>	Во время выполнения программы могут возникать ситуации, когда состояние внешних данных, устройств ввода-вывода или компьютерной системы в целом делает дальнейшие вычисления в соответствии с базовым алгоритмом невозможными или бессмысленными.</a:t>
            </a:r>
          </a:p>
          <a:p>
            <a:r>
              <a:rPr lang="ru-RU" dirty="0"/>
              <a:t>	Самой </a:t>
            </a:r>
            <a:r>
              <a:rPr lang="ru-RU" b="1" dirty="0"/>
              <a:t>последней инстанцией </a:t>
            </a:r>
            <a:r>
              <a:rPr lang="ru-RU" dirty="0"/>
              <a:t>в процессе </a:t>
            </a:r>
            <a:r>
              <a:rPr lang="ru-RU" dirty="0" smtClean="0"/>
              <a:t>обработки </a:t>
            </a:r>
            <a:r>
              <a:rPr lang="ru-RU" dirty="0"/>
              <a:t>исключений является </a:t>
            </a:r>
            <a:r>
              <a:rPr lang="ru-RU" b="1" dirty="0"/>
              <a:t>операционная система</a:t>
            </a:r>
            <a:r>
              <a:rPr lang="ru-RU" dirty="0"/>
              <a:t>. Когда программа завершает своё выполнение с необработанным исключением, то операционная система обычно уведомляет нас о том, что произошла ошибка необработанного исключения. Как она это сделает — зависит от </a:t>
            </a:r>
            <a:r>
              <a:rPr lang="ru-RU" dirty="0" smtClean="0"/>
              <a:t>самой операционной системы: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либо выведет сообщение об ошибке;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либо откроет диалоговое окно с ошибкой;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либо </a:t>
            </a:r>
            <a:r>
              <a:rPr lang="ru-RU" dirty="0" smtClean="0"/>
              <a:t>просто вызовет сбой в работе.</a:t>
            </a:r>
            <a:endParaRPr lang="ru-RU" dirty="0"/>
          </a:p>
        </p:txBody>
      </p:sp>
      <p:pic>
        <p:nvPicPr>
          <p:cNvPr id="10" name="Picture 2" descr="Выбор правильной стратегии обработки ошибок (части 1 и 2) / Блог компании  Mail.ru Group / Хабр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336" y="4375339"/>
            <a:ext cx="4317670" cy="248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4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 такое исключения?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7" y="1437778"/>
            <a:ext cx="1087019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Любая программа опирается на </a:t>
            </a:r>
            <a:r>
              <a:rPr lang="ru-RU" b="1" dirty="0"/>
              <a:t>инварианты</a:t>
            </a:r>
            <a:r>
              <a:rPr lang="ru-RU" dirty="0"/>
              <a:t> — утверждения о состоянии, которые должны оставаться истинными, чтобы алгоритм работал корректно</a:t>
            </a:r>
            <a:r>
              <a:rPr lang="ru-RU" dirty="0" smtClean="0"/>
              <a:t>. </a:t>
            </a:r>
            <a:r>
              <a:rPr lang="ru-RU" dirty="0"/>
              <a:t>Когда инвариант нарушается, </a:t>
            </a:r>
            <a:r>
              <a:rPr lang="ru-RU" b="1" dirty="0"/>
              <a:t>продолжение алгоритма теряет смысл</a:t>
            </a:r>
            <a:r>
              <a:rPr lang="ru-RU" dirty="0"/>
              <a:t>.</a:t>
            </a:r>
            <a:endParaRPr lang="ru-RU" dirty="0" smtClean="0"/>
          </a:p>
          <a:p>
            <a:r>
              <a:rPr lang="ru-RU" dirty="0"/>
              <a:t>Примеры инвариантов</a:t>
            </a:r>
            <a:r>
              <a:rPr lang="ru-RU" dirty="0" smtClean="0"/>
              <a:t>: делитель </a:t>
            </a:r>
            <a:r>
              <a:rPr lang="ru-RU" dirty="0"/>
              <a:t>не равен </a:t>
            </a:r>
            <a:r>
              <a:rPr lang="ru-RU" dirty="0" smtClean="0"/>
              <a:t>нулю, структура </a:t>
            </a:r>
            <a:r>
              <a:rPr lang="ru-RU" dirty="0"/>
              <a:t>данных обладает корректной внутренней </a:t>
            </a:r>
            <a:r>
              <a:rPr lang="ru-RU" dirty="0" err="1" smtClean="0"/>
              <a:t>консистентностью</a:t>
            </a:r>
            <a:r>
              <a:rPr lang="ru-RU" dirty="0" smtClean="0"/>
              <a:t>, ввод </a:t>
            </a:r>
            <a:r>
              <a:rPr lang="ru-RU" dirty="0"/>
              <a:t>соответствует ожидаемому </a:t>
            </a:r>
            <a:r>
              <a:rPr lang="ru-RU" dirty="0" smtClean="0"/>
              <a:t>формату, система </a:t>
            </a:r>
            <a:r>
              <a:rPr lang="ru-RU" dirty="0"/>
              <a:t>может выделить </a:t>
            </a:r>
            <a:r>
              <a:rPr lang="ru-RU" dirty="0" smtClean="0"/>
              <a:t>память.</a:t>
            </a:r>
            <a:endParaRPr lang="ru-RU" dirty="0"/>
          </a:p>
          <a:p>
            <a:r>
              <a:rPr lang="ru-RU" dirty="0" smtClean="0"/>
              <a:t>Исключение, </a:t>
            </a:r>
            <a:r>
              <a:rPr lang="ru-RU" dirty="0"/>
              <a:t>сообщает</a:t>
            </a:r>
            <a:r>
              <a:rPr lang="ru-RU" dirty="0" smtClean="0"/>
              <a:t>: </a:t>
            </a:r>
            <a:r>
              <a:rPr lang="ru-RU" b="1" dirty="0" smtClean="0"/>
              <a:t>логический </a:t>
            </a:r>
            <a:r>
              <a:rPr lang="ru-RU" b="1" dirty="0"/>
              <a:t>мир программы перестал соответствовать предположениям, на которых построен текущий </a:t>
            </a:r>
            <a:r>
              <a:rPr lang="ru-RU" b="1" dirty="0" smtClean="0"/>
              <a:t>код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Программа, при этом, работает линейно и в случае возникновения такой ситуации когда на шаге </a:t>
            </a:r>
            <a:r>
              <a:rPr lang="en-US" dirty="0" smtClean="0"/>
              <a:t>A/B/C</a:t>
            </a:r>
            <a:r>
              <a:rPr lang="ru-RU" dirty="0" smtClean="0"/>
              <a:t>, то следующий за ними условный </a:t>
            </a:r>
            <a:r>
              <a:rPr lang="en-US" dirty="0" smtClean="0"/>
              <a:t>D </a:t>
            </a:r>
            <a:r>
              <a:rPr lang="ru-RU" dirty="0" smtClean="0"/>
              <a:t>выполнен быть не может. После чего правильно передать управление туда, где это возможно исправить, т.е. в место вызова текущей функции. Плюсом этого действия будет выделение этой ситуации в отдельный логический поток операций и таким образом исключить из кода рассмотрение крайне редких ситуаций. При этом вызываемая функция дала нами контракт в котором мы точно знали о возможности возникновения такого события и корректно его обработаем.</a:t>
            </a:r>
          </a:p>
          <a:p>
            <a:endParaRPr lang="ru-RU" dirty="0" smtClean="0"/>
          </a:p>
          <a:p>
            <a:r>
              <a:rPr lang="ru-RU" b="1" dirty="0" smtClean="0"/>
              <a:t>Исключение</a:t>
            </a:r>
            <a:r>
              <a:rPr lang="ru-RU" dirty="0" smtClean="0"/>
              <a:t> </a:t>
            </a:r>
            <a:r>
              <a:rPr lang="ru-RU" dirty="0"/>
              <a:t>— это </a:t>
            </a:r>
            <a:r>
              <a:rPr lang="ru-RU" dirty="0" smtClean="0"/>
              <a:t>структурированный, </a:t>
            </a:r>
            <a:r>
              <a:rPr lang="ru-RU" dirty="0" err="1" smtClean="0"/>
              <a:t>стеково</a:t>
            </a:r>
            <a:r>
              <a:rPr lang="ru-RU" dirty="0" smtClean="0"/>
              <a:t>-ориентированный механизм </a:t>
            </a:r>
            <a:r>
              <a:rPr lang="ru-RU" dirty="0"/>
              <a:t>передачи управления назад к месту, где имеется контекст для обработки события, нарушившего инварианты нормального выполнения программы.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17658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исключений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7" y="1437778"/>
            <a:ext cx="1087019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Целочисленное деление на ноль. Конечного результата у данной операции быть не может, поэтому ни дальнейшие вычисления, ни попытка использования результата деления не приведут к решению задачи.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Ошибка при попытке считать данные с внешнего устройства. Если данные не удаётся получить, любые дальнейшие запланированные операции с ними бессмысленны.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Исчерпание доступной памяти. Если в какой-то момент система оказывается не в состоянии выделить достаточный для прикладной программы объём оперативной памяти, программа не сможет работать нормально.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Появление сигнала аварийного отключения электропитания системы. Прикладную задачу, по всей видимости, решить не удастся, в лучшем случае (при наличии какого-то резерва питания) прикладная программа может позаботиться о сохранении данных</a:t>
            </a:r>
            <a:r>
              <a:rPr lang="ru-RU" dirty="0" smtClean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Обращение к несуществующей памяти, т.е. выход за границы массива или обращение по пустому указателю.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Ошибка работы с базой данных, неправильное </a:t>
            </a:r>
            <a:r>
              <a:rPr lang="en-US" dirty="0" smtClean="0"/>
              <a:t>SQL </a:t>
            </a:r>
            <a:r>
              <a:rPr lang="ru-RU" dirty="0" smtClean="0"/>
              <a:t>выражение или ошибка исполнения выражения.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Ошибка при работе с сетью, неожиданный обрыв соединения, неправильные данные для подключения.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Ошибка преобразования указателя от указателя на пустоту к классу не </a:t>
            </a:r>
            <a:r>
              <a:rPr lang="ru-RU" dirty="0" smtClean="0"/>
              <a:t>соответствующему </a:t>
            </a:r>
            <a:r>
              <a:rPr lang="ru-RU" dirty="0" smtClean="0"/>
              <a:t>реально хранимому объекту.</a:t>
            </a:r>
          </a:p>
        </p:txBody>
      </p:sp>
    </p:spTree>
    <p:extLst>
      <p:ext uri="{BB962C8B-B14F-4D97-AF65-F5344CB8AC3E}">
        <p14:creationId xmlns:p14="http://schemas.microsoft.com/office/powerpoint/2010/main" val="384214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Ошибки есть исключения?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7" y="1437778"/>
            <a:ext cx="108701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Ошибка </a:t>
            </a:r>
            <a:r>
              <a:rPr lang="ru-RU" b="1" dirty="0"/>
              <a:t>(</a:t>
            </a:r>
            <a:r>
              <a:rPr lang="ru-RU" b="1" dirty="0" err="1"/>
              <a:t>error</a:t>
            </a:r>
            <a:r>
              <a:rPr lang="ru-RU" b="1" dirty="0"/>
              <a:t>)</a:t>
            </a:r>
          </a:p>
          <a:p>
            <a:r>
              <a:rPr lang="ru-RU" dirty="0"/>
              <a:t>— это </a:t>
            </a:r>
            <a:r>
              <a:rPr lang="ru-RU" b="1" dirty="0"/>
              <a:t>факт неправильного состояния</a:t>
            </a:r>
            <a:r>
              <a:rPr lang="ru-RU" dirty="0"/>
              <a:t>, нарушение инварианта, дефект или невозможность корректного выполнения операции.</a:t>
            </a:r>
          </a:p>
          <a:p>
            <a:r>
              <a:rPr lang="ru-RU" b="1" dirty="0"/>
              <a:t>Исключение (</a:t>
            </a:r>
            <a:r>
              <a:rPr lang="ru-RU" b="1" dirty="0" err="1"/>
              <a:t>exception</a:t>
            </a:r>
            <a:r>
              <a:rPr lang="ru-RU" b="1" dirty="0"/>
              <a:t>)</a:t>
            </a:r>
          </a:p>
          <a:p>
            <a:r>
              <a:rPr lang="ru-RU" dirty="0"/>
              <a:t>— это </a:t>
            </a:r>
            <a:r>
              <a:rPr lang="ru-RU" b="1" dirty="0"/>
              <a:t>механизм реакции на ошибку</a:t>
            </a:r>
            <a:r>
              <a:rPr lang="ru-RU" dirty="0"/>
              <a:t>, способ сообщить системе, что нормальное выполнение невозможно</a:t>
            </a:r>
            <a:r>
              <a:rPr lang="ru-RU" dirty="0" smtClean="0"/>
              <a:t>.</a:t>
            </a:r>
            <a:endParaRPr lang="ru-RU" dirty="0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15949"/>
              </p:ext>
            </p:extLst>
          </p:nvPr>
        </p:nvGraphicFramePr>
        <p:xfrm>
          <a:off x="396588" y="2915106"/>
          <a:ext cx="10515600" cy="33528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8184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62060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32719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600" dirty="0"/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Ошибка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Исключение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10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dirty="0"/>
                        <a:t>Природа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состояние, факт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механизм передачи управления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467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Уровень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предметная логика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язык/время исполнения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625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dirty="0"/>
                        <a:t>Сценарий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обычная часть бизнес-процесса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вне нормы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895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Предсказуемость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иногда предсказуема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всегда вне ожиданий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61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Место обработки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локальное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нелокальное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309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Сигнатура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явная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скрытая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094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Типизация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может быть выражена типами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только динамически типизируема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506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Использование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контроль условий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прерывание потока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489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Природа события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ошибка данных/логики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реакция на ошибку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932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39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Классификации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14503" y="1437778"/>
            <a:ext cx="1128665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Есть множество классификаций исключений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по происхождению</a:t>
            </a:r>
            <a:r>
              <a:rPr lang="en-US" dirty="0" smtClean="0"/>
              <a:t>: </a:t>
            </a:r>
            <a:r>
              <a:rPr lang="ru-RU" b="1" dirty="0" smtClean="0"/>
              <a:t>внутренние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Логические, программные, вычислительные</a:t>
            </a:r>
            <a:r>
              <a:rPr lang="en-US" dirty="0" smtClean="0"/>
              <a:t>)</a:t>
            </a:r>
            <a:r>
              <a:rPr lang="ru-RU" dirty="0" smtClean="0"/>
              <a:t> и </a:t>
            </a:r>
            <a:r>
              <a:rPr lang="ru-RU" b="1" dirty="0" smtClean="0"/>
              <a:t>внешние</a:t>
            </a:r>
            <a:r>
              <a:rPr lang="ru-RU" dirty="0" smtClean="0"/>
              <a:t> (сбой оборудования, сети, окружения или системные события)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по </a:t>
            </a:r>
            <a:r>
              <a:rPr lang="ru-RU" b="1" dirty="0" err="1"/>
              <a:t>восстановимости</a:t>
            </a:r>
            <a:r>
              <a:rPr lang="en-US" dirty="0" smtClean="0"/>
              <a:t>: </a:t>
            </a:r>
            <a:r>
              <a:rPr lang="ru-RU" b="1" dirty="0" smtClean="0"/>
              <a:t>невосстановимые</a:t>
            </a:r>
            <a:r>
              <a:rPr lang="ru-RU" dirty="0" smtClean="0"/>
              <a:t> (продолжение работы невозможно), </a:t>
            </a:r>
            <a:r>
              <a:rPr lang="ru-RU" b="1" dirty="0" smtClean="0"/>
              <a:t>частично восстановимые</a:t>
            </a:r>
            <a:r>
              <a:rPr lang="ru-RU" dirty="0" smtClean="0"/>
              <a:t> (можно попытаться, например при отсутствии файла или недоступности сети), </a:t>
            </a:r>
            <a:r>
              <a:rPr lang="ru-RU" b="1" dirty="0" smtClean="0"/>
              <a:t>восстановимые</a:t>
            </a:r>
            <a:r>
              <a:rPr lang="ru-RU" dirty="0" smtClean="0"/>
              <a:t> (можно восстановить работу полностью, например неверный ввод, не найденный пользователь, отсутствие результата) 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по критичности</a:t>
            </a:r>
            <a:r>
              <a:rPr lang="en-US" dirty="0" smtClean="0"/>
              <a:t>: </a:t>
            </a:r>
            <a:r>
              <a:rPr lang="ru-RU" b="1" dirty="0" smtClean="0"/>
              <a:t>критичные</a:t>
            </a:r>
            <a:r>
              <a:rPr lang="ru-RU" dirty="0" smtClean="0"/>
              <a:t> (нарушает фундаментальные свойства программы, такие как безопасность, целостность, непротиворечивость, например повреждение БД, нарушение бизнес логики), </a:t>
            </a:r>
            <a:r>
              <a:rPr lang="ru-RU" b="1" dirty="0" smtClean="0"/>
              <a:t>не критичные</a:t>
            </a:r>
            <a:r>
              <a:rPr lang="ru-RU" dirty="0" smtClean="0"/>
              <a:t> (не нарушают свойства программы, но требуют обработки, например неправильный формат, сбой в сети, некорректные данные).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по времени возникновения</a:t>
            </a:r>
            <a:r>
              <a:rPr lang="en-US" dirty="0" smtClean="0"/>
              <a:t>: </a:t>
            </a:r>
            <a:r>
              <a:rPr lang="ru-RU" b="1" dirty="0" smtClean="0"/>
              <a:t>синхронные</a:t>
            </a:r>
            <a:r>
              <a:rPr lang="ru-RU" dirty="0" smtClean="0"/>
              <a:t> (возникают в момент выполнения конкретной инструкции, например деление на ноль, ошибка чтения файла), </a:t>
            </a:r>
            <a:r>
              <a:rPr lang="ru-RU" b="1" dirty="0" smtClean="0"/>
              <a:t>асинхронные</a:t>
            </a:r>
            <a:r>
              <a:rPr lang="ru-RU" dirty="0" smtClean="0"/>
              <a:t> (возникают по внешним причинам не связанным с программой, например аппаратные прерывания, системные сигналы и прочее).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по уровню абстракции</a:t>
            </a:r>
            <a:r>
              <a:rPr lang="en-US" dirty="0" smtClean="0"/>
              <a:t>: </a:t>
            </a:r>
            <a:r>
              <a:rPr lang="ru-RU" b="1" dirty="0" smtClean="0"/>
              <a:t>низкоуровневые</a:t>
            </a:r>
            <a:r>
              <a:rPr lang="ru-RU" dirty="0" smtClean="0"/>
              <a:t> (связаны с памятью, сетью, вводом выводом, аппаратными средствами, файлами), </a:t>
            </a:r>
            <a:r>
              <a:rPr lang="ru-RU" b="1" dirty="0" err="1" smtClean="0"/>
              <a:t>среднеуровневые</a:t>
            </a:r>
            <a:r>
              <a:rPr lang="ru-RU" dirty="0" smtClean="0"/>
              <a:t> (преобразованные низкоуровневые исключения для более корректной обработки, например ошибка формата файла), </a:t>
            </a:r>
            <a:r>
              <a:rPr lang="ru-RU" b="1" dirty="0" smtClean="0"/>
              <a:t>высокоуровневые</a:t>
            </a:r>
            <a:r>
              <a:rPr lang="ru-RU" dirty="0" smtClean="0"/>
              <a:t> (нарушение правил бизнес логики, например</a:t>
            </a:r>
            <a:r>
              <a:rPr lang="en-US" dirty="0" smtClean="0"/>
              <a:t>: </a:t>
            </a:r>
            <a:r>
              <a:rPr lang="ru-RU" dirty="0" smtClean="0"/>
              <a:t>недостаточно средств, некорректные данные и т.д.)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по ответственности обработки</a:t>
            </a:r>
            <a:r>
              <a:rPr lang="en-US" dirty="0" smtClean="0"/>
              <a:t>:</a:t>
            </a:r>
            <a:r>
              <a:rPr lang="ru-RU" dirty="0" smtClean="0"/>
              <a:t> инфраструктуры, сервиса, пользователя, разработчика.</a:t>
            </a:r>
            <a:r>
              <a:rPr lang="en-US" dirty="0" smtClean="0"/>
              <a:t>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70310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Идемпотентность исключений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14503" y="1437778"/>
            <a:ext cx="1128665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В системном программировании идемпотентность </a:t>
            </a:r>
            <a:r>
              <a:rPr lang="ru-RU" altLang="ru-RU" dirty="0" smtClean="0"/>
              <a:t>означает, что </a:t>
            </a:r>
            <a:r>
              <a:rPr lang="ru-RU" altLang="ru-RU" dirty="0"/>
              <a:t>о</a:t>
            </a:r>
            <a:r>
              <a:rPr lang="ru-RU" altLang="ru-RU" dirty="0" smtClean="0"/>
              <a:t>перация </a:t>
            </a:r>
            <a:r>
              <a:rPr lang="ru-RU" altLang="ru-RU" dirty="0"/>
              <a:t>может выполняться повторно без разрушения состояния, дублирования побочных эффектов или нарушения целостности данных</a:t>
            </a:r>
            <a:r>
              <a:rPr lang="ru-RU" altLang="ru-RU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 smtClean="0"/>
              <a:t>Исключение </a:t>
            </a:r>
            <a:r>
              <a:rPr lang="ru-RU" dirty="0"/>
              <a:t>— это </a:t>
            </a:r>
            <a:r>
              <a:rPr lang="ru-RU" i="1" dirty="0"/>
              <a:t>прерывание исполнения</a:t>
            </a:r>
            <a:r>
              <a:rPr lang="ru-RU" dirty="0"/>
              <a:t>, которое оставляет систему в </a:t>
            </a:r>
            <a:r>
              <a:rPr lang="ru-RU" i="1" dirty="0"/>
              <a:t>частично выполненном состоянии</a:t>
            </a:r>
            <a:r>
              <a:rPr lang="ru-RU" dirty="0"/>
              <a:t>, если операция не идемпотентна</a:t>
            </a:r>
            <a:r>
              <a:rPr lang="ru-RU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 точки зрения </a:t>
            </a:r>
            <a:r>
              <a:rPr lang="ru-RU" altLang="ru-RU" dirty="0" smtClean="0"/>
              <a:t>исполнения: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/>
              <a:t>исключение выбрасывается </a:t>
            </a:r>
            <a:r>
              <a:rPr lang="ru-RU" altLang="ru-RU" b="1" dirty="0" smtClean="0"/>
              <a:t>посреди операции</a:t>
            </a:r>
            <a:endParaRPr lang="ru-RU" altLang="ru-RU" dirty="0" smtClean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/>
              <a:t>часть </a:t>
            </a:r>
            <a:r>
              <a:rPr lang="ru-RU" altLang="ru-RU" dirty="0"/>
              <a:t>побочных эффектов может быть выполнена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/>
              <a:t>часть — нет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/>
              <a:t>состояние системы оказывается «</a:t>
            </a:r>
            <a:r>
              <a:rPr lang="ru-RU" altLang="ru-RU" dirty="0" err="1"/>
              <a:t>полуготовым</a:t>
            </a:r>
            <a:r>
              <a:rPr lang="ru-RU" altLang="ru-RU" dirty="0"/>
              <a:t>»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Это называется </a:t>
            </a:r>
            <a:r>
              <a:rPr lang="ru-RU" altLang="ru-RU" b="1" dirty="0" err="1"/>
              <a:t>partial</a:t>
            </a:r>
            <a:r>
              <a:rPr lang="ru-RU" altLang="ru-RU" b="1" dirty="0"/>
              <a:t> </a:t>
            </a:r>
            <a:r>
              <a:rPr lang="ru-RU" altLang="ru-RU" b="1" dirty="0" err="1"/>
              <a:t>execution</a:t>
            </a:r>
            <a:r>
              <a:rPr lang="ru-RU" altLang="ru-RU" dirty="0"/>
              <a:t> — частичное выполнение.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Примеры: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/>
              <a:t>Списали деньги со счёта, но не записали транзакцию в журнал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/>
              <a:t>Увеличили счетчик, но не добавили запись в БД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/>
              <a:t>Открыли файл, записали часть данных и упали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То есть операция превращается в </a:t>
            </a:r>
            <a:r>
              <a:rPr lang="ru-RU" altLang="ru-RU" b="1" dirty="0" err="1"/>
              <a:t>неидемпотентную</a:t>
            </a:r>
            <a:r>
              <a:rPr lang="ru-RU" altLang="ru-RU" dirty="0"/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её нельзя повторить, не усугубив последствия.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 smtClean="0"/>
              <a:t>Исключения </a:t>
            </a:r>
            <a:r>
              <a:rPr lang="ru-RU" altLang="ru-RU" b="1" dirty="0"/>
              <a:t>не должны оставлять систему в полуразрушенном </a:t>
            </a:r>
            <a:r>
              <a:rPr lang="ru-RU" altLang="ru-RU" b="1" dirty="0" smtClean="0"/>
              <a:t>состоянии, значит операции следует делать идемпотентными.</a:t>
            </a:r>
            <a:endParaRPr lang="ru-RU" altLang="ru-RU" b="1" dirty="0"/>
          </a:p>
        </p:txBody>
      </p:sp>
    </p:spTree>
    <p:extLst>
      <p:ext uri="{BB962C8B-B14F-4D97-AF65-F5344CB8AC3E}">
        <p14:creationId xmlns:p14="http://schemas.microsoft.com/office/powerpoint/2010/main" val="261434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Подходы к обработке исключений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7" y="1437778"/>
            <a:ext cx="518124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EXCEPTION-BASED ERROR HANDLING</a:t>
            </a:r>
          </a:p>
          <a:p>
            <a:endParaRPr lang="ru-RU" dirty="0" smtClean="0"/>
          </a:p>
          <a:p>
            <a:r>
              <a:rPr lang="ru-RU" dirty="0" smtClean="0"/>
              <a:t>Исключения могут обрабатываться как механизмы управления.</a:t>
            </a:r>
          </a:p>
          <a:p>
            <a:r>
              <a:rPr lang="ru-RU" dirty="0" smtClean="0"/>
              <a:t>Встречается </a:t>
            </a:r>
            <a:r>
              <a:rPr lang="ru-RU" dirty="0"/>
              <a:t>в </a:t>
            </a:r>
            <a:r>
              <a:rPr lang="ru-RU" dirty="0" err="1"/>
              <a:t>Java</a:t>
            </a:r>
            <a:r>
              <a:rPr lang="ru-RU" dirty="0"/>
              <a:t>, Python, C#.</a:t>
            </a:r>
            <a:br>
              <a:rPr lang="ru-RU" dirty="0"/>
            </a:br>
            <a:r>
              <a:rPr lang="ru-RU" dirty="0" smtClean="0"/>
              <a:t>Разработчик </a:t>
            </a:r>
            <a:r>
              <a:rPr lang="ru-RU" dirty="0"/>
              <a:t>пишет </a:t>
            </a:r>
            <a:r>
              <a:rPr lang="ru-RU" dirty="0" smtClean="0"/>
              <a:t>только «правильную</a:t>
            </a:r>
            <a:r>
              <a:rPr lang="ru-RU" dirty="0"/>
              <a:t>» бизнес-логику, а ошибки всплывают вверх.</a:t>
            </a:r>
          </a:p>
          <a:p>
            <a:r>
              <a:rPr lang="ru-RU" dirty="0"/>
              <a:t>Плюсы: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нет шума в коде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читается как прямой сценарий поведения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централизованная обработка ошибок</a:t>
            </a:r>
          </a:p>
          <a:p>
            <a:r>
              <a:rPr lang="ru-RU" dirty="0"/>
              <a:t>Минусы: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тяжёлый механизм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плохо подходит для горячих участков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может скрывать ошибки, если неаккуратно работать с </a:t>
            </a:r>
            <a:r>
              <a:rPr lang="ru-RU" dirty="0" err="1"/>
              <a:t>catch-all</a:t>
            </a:r>
            <a:endParaRPr lang="ru-RU" dirty="0"/>
          </a:p>
          <a:p>
            <a:endParaRPr lang="ru-RU" dirty="0" smtClean="0"/>
          </a:p>
        </p:txBody>
      </p:sp>
      <p:sp>
        <p:nvSpPr>
          <p:cNvPr id="10" name="Прямоугольник 9"/>
          <p:cNvSpPr/>
          <p:nvPr/>
        </p:nvSpPr>
        <p:spPr>
          <a:xfrm>
            <a:off x="5672317" y="1489866"/>
            <a:ext cx="523987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ERROR-CODE BASED HANDLING</a:t>
            </a:r>
            <a:endParaRPr lang="ru-RU" b="1" dirty="0" smtClean="0"/>
          </a:p>
          <a:p>
            <a:endParaRPr lang="ru-RU" dirty="0" smtClean="0"/>
          </a:p>
          <a:p>
            <a:r>
              <a:rPr lang="ru-RU" dirty="0" smtClean="0"/>
              <a:t>Исключения могут обрабатываться как возврат статуса выполнения.</a:t>
            </a:r>
            <a:endParaRPr lang="en-US" dirty="0" smtClean="0"/>
          </a:p>
          <a:p>
            <a:r>
              <a:rPr lang="ru-RU" dirty="0" smtClean="0"/>
              <a:t>Применяется </a:t>
            </a:r>
            <a:r>
              <a:rPr lang="ru-RU" dirty="0"/>
              <a:t>в </a:t>
            </a:r>
            <a:r>
              <a:rPr lang="ru-RU" dirty="0" err="1"/>
              <a:t>Go</a:t>
            </a:r>
            <a:r>
              <a:rPr lang="ru-RU" dirty="0"/>
              <a:t>, </a:t>
            </a:r>
            <a:r>
              <a:rPr lang="ru-RU" dirty="0" err="1"/>
              <a:t>Rust</a:t>
            </a:r>
            <a:r>
              <a:rPr lang="ru-RU" dirty="0"/>
              <a:t> (через </a:t>
            </a:r>
            <a:r>
              <a:rPr lang="ru-RU" dirty="0" err="1"/>
              <a:t>Result</a:t>
            </a:r>
            <a:r>
              <a:rPr lang="ru-RU" dirty="0"/>
              <a:t>), C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Разработчик добавляет множество проверок статуса включенных в бизнес логику.</a:t>
            </a:r>
          </a:p>
          <a:p>
            <a:r>
              <a:rPr lang="ru-RU" dirty="0" smtClean="0"/>
              <a:t>Плюсы: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ошибки </a:t>
            </a:r>
            <a:r>
              <a:rPr lang="ru-RU" dirty="0"/>
              <a:t>видны </a:t>
            </a:r>
            <a:r>
              <a:rPr lang="ru-RU" dirty="0" smtClean="0"/>
              <a:t>явно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высокая предсказуемость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меньше скрытых нюансов</a:t>
            </a:r>
          </a:p>
          <a:p>
            <a:r>
              <a:rPr lang="ru-RU" dirty="0" smtClean="0"/>
              <a:t>Минусы: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засоряет код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тяжело </a:t>
            </a:r>
            <a:r>
              <a:rPr lang="ru-RU" dirty="0"/>
              <a:t>поддерживать вложенную </a:t>
            </a:r>
            <a:r>
              <a:rPr lang="ru-RU" dirty="0" smtClean="0"/>
              <a:t>бизнес-логику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возможны </a:t>
            </a:r>
            <a:r>
              <a:rPr lang="ru-RU" dirty="0"/>
              <a:t>пропуски проверок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53261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Типы обработки исключений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591494" y="1437778"/>
            <a:ext cx="11009012" cy="3585997"/>
            <a:chOff x="591494" y="2010519"/>
            <a:chExt cx="11009012" cy="3585997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591494" y="2010519"/>
              <a:ext cx="1100901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dirty="0" smtClean="0"/>
                <a:t>Существует </a:t>
              </a:r>
              <a:r>
                <a:rPr lang="ru-RU" dirty="0"/>
                <a:t>два принципиально разных механизма функционирования обработчиков исключений</a:t>
              </a:r>
              <a:r>
                <a:rPr lang="ru-RU" dirty="0" smtClean="0"/>
                <a:t>.</a:t>
              </a:r>
              <a:endParaRPr lang="ru-RU" dirty="0"/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591494" y="2457195"/>
              <a:ext cx="5504506" cy="31393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 smtClean="0"/>
                <a:t>	</a:t>
              </a:r>
              <a:r>
                <a:rPr lang="ru-RU" b="1" dirty="0" smtClean="0"/>
                <a:t>Обработка </a:t>
              </a:r>
              <a:r>
                <a:rPr lang="ru-RU" b="1" dirty="0"/>
                <a:t>с возвратом </a:t>
              </a:r>
              <a:r>
                <a:rPr lang="ru-RU" dirty="0"/>
                <a:t>подразумевает, что обработчик исключения ликвидирует возникшую проблему и приводит программу в состояние, когда она может работать дальше по основному алгоритму. В этом случае после того, как выполнится код обработчика, управление передаётся обратно в ту точку программы, где возникла исключительная ситуация и выполнение программы продолжается. Обработка с возвратом типична для обработчиков асинхронных исключений, для обработки синхронных исключений она малопригодна.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6084742" y="2457195"/>
              <a:ext cx="5504506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 smtClean="0"/>
                <a:t>	</a:t>
              </a:r>
              <a:r>
                <a:rPr lang="ru-RU" b="1" dirty="0" smtClean="0"/>
                <a:t>Обработка </a:t>
              </a:r>
              <a:r>
                <a:rPr lang="ru-RU" b="1" dirty="0"/>
                <a:t>без возврата</a:t>
              </a:r>
              <a:r>
                <a:rPr lang="ru-RU" dirty="0"/>
                <a:t> заключается в том, что после выполнения кода обработчика исключения управление передаётся в некоторое, заранее заданное место программы, и с него продолжается исполнение. То есть, фактически, при возникновении исключения команда, во время работы которой оно возникло, заменяется на безусловный переход к заданному оператору.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74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9161586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Неструктурная обработка исключений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06168" y="1437778"/>
            <a:ext cx="107796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	</a:t>
            </a:r>
            <a:r>
              <a:rPr lang="ru-RU" b="1" dirty="0" smtClean="0"/>
              <a:t>Неструктурная </a:t>
            </a:r>
            <a:r>
              <a:rPr lang="ru-RU" b="1" dirty="0"/>
              <a:t>обработка исключений </a:t>
            </a:r>
            <a:r>
              <a:rPr lang="ru-RU" dirty="0"/>
              <a:t>реализуется в виде механизма регистрации функций или команд-обработчиков для каждого возможного типа исключения. Вызов регистрации «привязывает» обработчик к определённому исключению, вызов </a:t>
            </a:r>
            <a:r>
              <a:rPr lang="ru-RU" dirty="0" err="1" smtClean="0"/>
              <a:t>дерегистрации</a:t>
            </a:r>
            <a:r>
              <a:rPr lang="ru-RU" dirty="0" smtClean="0"/>
              <a:t> </a:t>
            </a:r>
            <a:r>
              <a:rPr lang="ru-RU" dirty="0"/>
              <a:t>— отменяет эту «привязку». Если исключение происходит, выполнение основного кода программы немедленно прерывается и начинается выполнение обработчика. По завершении обработчика управление передаётся либо в некоторую наперёд заданную точку программы, либо обратно в точку возникновения исключения.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06168" y="3376107"/>
            <a:ext cx="1020602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 err="1" smtClean="0"/>
              <a:t>УстановитьОбработчик</a:t>
            </a:r>
            <a:r>
              <a:rPr lang="ru-RU" dirty="0" smtClean="0"/>
              <a:t>(</a:t>
            </a:r>
            <a:r>
              <a:rPr lang="ru-RU" dirty="0" err="1" smtClean="0"/>
              <a:t>ОшибкаБД</a:t>
            </a:r>
            <a:r>
              <a:rPr lang="ru-RU" dirty="0"/>
              <a:t>, </a:t>
            </a:r>
            <a:r>
              <a:rPr lang="ru-RU" dirty="0" err="1"/>
              <a:t>ПерейтиНа</a:t>
            </a:r>
            <a:r>
              <a:rPr lang="ru-RU" dirty="0"/>
              <a:t> </a:t>
            </a:r>
            <a:r>
              <a:rPr lang="ru-RU" dirty="0" err="1"/>
              <a:t>ОшБД</a:t>
            </a:r>
            <a:r>
              <a:rPr lang="ru-RU" dirty="0"/>
              <a:t>) </a:t>
            </a:r>
          </a:p>
          <a:p>
            <a:r>
              <a:rPr lang="ru-RU" dirty="0"/>
              <a:t>    // На исключение "</a:t>
            </a:r>
            <a:r>
              <a:rPr lang="ru-RU" dirty="0" err="1"/>
              <a:t>ОшибкаБД</a:t>
            </a:r>
            <a:r>
              <a:rPr lang="ru-RU" dirty="0"/>
              <a:t>" установлен обработчик - команда "</a:t>
            </a:r>
            <a:r>
              <a:rPr lang="ru-RU" dirty="0" err="1"/>
              <a:t>ПерейтиНа</a:t>
            </a:r>
            <a:r>
              <a:rPr lang="ru-RU" dirty="0"/>
              <a:t> </a:t>
            </a:r>
            <a:r>
              <a:rPr lang="ru-RU" dirty="0" err="1"/>
              <a:t>ОшБД</a:t>
            </a:r>
            <a:r>
              <a:rPr lang="ru-RU" dirty="0"/>
              <a:t>"</a:t>
            </a:r>
          </a:p>
          <a:p>
            <a:r>
              <a:rPr lang="ru-RU" dirty="0" smtClean="0"/>
              <a:t>    // </a:t>
            </a:r>
            <a:r>
              <a:rPr lang="ru-RU" dirty="0"/>
              <a:t>Здесь находятся операторы работы с БД</a:t>
            </a:r>
          </a:p>
          <a:p>
            <a:r>
              <a:rPr lang="ru-RU" dirty="0" smtClean="0"/>
              <a:t>    </a:t>
            </a:r>
            <a:r>
              <a:rPr lang="ru-RU" dirty="0" err="1" smtClean="0"/>
              <a:t>ПерейтиНа</a:t>
            </a:r>
            <a:r>
              <a:rPr lang="ru-RU" dirty="0" smtClean="0"/>
              <a:t> </a:t>
            </a:r>
            <a:r>
              <a:rPr lang="ru-RU" dirty="0" err="1"/>
              <a:t>СнятьОшБД</a:t>
            </a:r>
            <a:r>
              <a:rPr lang="ru-RU" dirty="0"/>
              <a:t> // Команда безусловного перехода - обход обработчика исключений</a:t>
            </a:r>
          </a:p>
          <a:p>
            <a:r>
              <a:rPr lang="ru-RU" dirty="0" err="1" smtClean="0"/>
              <a:t>ОшБД</a:t>
            </a:r>
            <a:r>
              <a:rPr lang="ru-RU" dirty="0"/>
              <a:t>:  // метка - сюда произойдёт переход в случае ошибки БД по установленному обработчику</a:t>
            </a:r>
          </a:p>
          <a:p>
            <a:r>
              <a:rPr lang="ru-RU" dirty="0" smtClean="0"/>
              <a:t>    // </a:t>
            </a:r>
            <a:r>
              <a:rPr lang="ru-RU" dirty="0"/>
              <a:t>Обработчик исключения БД  </a:t>
            </a:r>
            <a:endParaRPr lang="ru-RU" dirty="0" smtClean="0"/>
          </a:p>
          <a:p>
            <a:r>
              <a:rPr lang="ru-RU" dirty="0" err="1" smtClean="0"/>
              <a:t>СнятьОшБД</a:t>
            </a:r>
            <a:r>
              <a:rPr lang="ru-RU" dirty="0"/>
              <a:t>:  </a:t>
            </a:r>
          </a:p>
          <a:p>
            <a:r>
              <a:rPr lang="ru-RU" dirty="0"/>
              <a:t>    // метка - сюда произойдёт переход, если контролируемый код выполнится без ошибки БД. </a:t>
            </a:r>
          </a:p>
          <a:p>
            <a:r>
              <a:rPr lang="ru-RU" dirty="0"/>
              <a:t>  </a:t>
            </a:r>
            <a:r>
              <a:rPr lang="ru-RU" dirty="0" smtClean="0"/>
              <a:t>  </a:t>
            </a:r>
            <a:r>
              <a:rPr lang="ru-RU" dirty="0" err="1" smtClean="0"/>
              <a:t>СнятьОбработчик</a:t>
            </a:r>
            <a:r>
              <a:rPr lang="ru-RU" dirty="0" smtClean="0"/>
              <a:t>(</a:t>
            </a:r>
            <a:r>
              <a:rPr lang="ru-RU" dirty="0" err="1" smtClean="0"/>
              <a:t>ОшибкаБД</a:t>
            </a:r>
            <a:r>
              <a:rPr lang="ru-RU" dirty="0"/>
              <a:t>) </a:t>
            </a:r>
          </a:p>
          <a:p>
            <a:r>
              <a:rPr lang="ru-RU" dirty="0"/>
              <a:t>    // Обработчик снят</a:t>
            </a:r>
          </a:p>
        </p:txBody>
      </p:sp>
      <p:pic>
        <p:nvPicPr>
          <p:cNvPr id="11" name="Picture 2" descr="никто не использует goto в высокоуровневой разработке Что же с нами  стало..., Мем Что же с нами стал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691" y="4946430"/>
            <a:ext cx="2209309" cy="191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02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Структурная обработка исключений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41972" y="1437778"/>
            <a:ext cx="105080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	</a:t>
            </a:r>
            <a:r>
              <a:rPr lang="ru-RU" b="1" dirty="0" smtClean="0"/>
              <a:t>Структурная </a:t>
            </a:r>
            <a:r>
              <a:rPr lang="ru-RU" b="1" dirty="0"/>
              <a:t>обработка исключений </a:t>
            </a:r>
            <a:r>
              <a:rPr lang="ru-RU" dirty="0"/>
              <a:t>требует обязательной поддержки со стороны языка программирования — наличия специальных синтаксических конструкций. Такая конструкция содержит блок контролируемого кода и обработчик (обработчики) исключений.</a:t>
            </a:r>
          </a:p>
          <a:p>
            <a:r>
              <a:rPr lang="ru-RU" dirty="0" smtClean="0"/>
              <a:t>Блоки </a:t>
            </a:r>
            <a:r>
              <a:rPr lang="ru-RU" dirty="0"/>
              <a:t>обработки исключений могут многократно входить друг в друга, как явно (текстуально), так и неявно. Если ни один из обработчиков в текущем блоке не может обработать исключение, то выполнение данного блока немедленно завершается, и управление передаётся на ближайший подходящий обработчик более высокого уровня иерархии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50130" y="3469103"/>
            <a:ext cx="609174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 err="1" smtClean="0"/>
              <a:t>НачалоБлока</a:t>
            </a:r>
            <a:endParaRPr lang="ru-RU" dirty="0"/>
          </a:p>
          <a:p>
            <a:r>
              <a:rPr lang="ru-RU" dirty="0" smtClean="0"/>
              <a:t>	// </a:t>
            </a:r>
            <a:r>
              <a:rPr lang="ru-RU" dirty="0"/>
              <a:t>Контролируемый код</a:t>
            </a:r>
          </a:p>
          <a:p>
            <a:r>
              <a:rPr lang="ru-RU" dirty="0" smtClean="0"/>
              <a:t>	если </a:t>
            </a:r>
            <a:r>
              <a:rPr lang="ru-RU" dirty="0"/>
              <a:t>(условие) то </a:t>
            </a:r>
            <a:r>
              <a:rPr lang="ru-RU" dirty="0" err="1"/>
              <a:t>СоздатьИсключение</a:t>
            </a:r>
            <a:r>
              <a:rPr lang="ru-RU" dirty="0"/>
              <a:t> Исключение2</a:t>
            </a:r>
          </a:p>
          <a:p>
            <a:r>
              <a:rPr lang="ru-RU" dirty="0" smtClean="0"/>
              <a:t>Обработчик </a:t>
            </a:r>
            <a:r>
              <a:rPr lang="ru-RU" dirty="0"/>
              <a:t>Исключение1</a:t>
            </a:r>
          </a:p>
          <a:p>
            <a:r>
              <a:rPr lang="ru-RU" dirty="0" smtClean="0"/>
              <a:t>	// </a:t>
            </a:r>
            <a:r>
              <a:rPr lang="ru-RU" dirty="0"/>
              <a:t>Код обработчика для Исключения1</a:t>
            </a:r>
          </a:p>
          <a:p>
            <a:r>
              <a:rPr lang="ru-RU" dirty="0" smtClean="0"/>
              <a:t>Обработчик </a:t>
            </a:r>
            <a:r>
              <a:rPr lang="ru-RU" dirty="0"/>
              <a:t>Исключение2</a:t>
            </a:r>
          </a:p>
          <a:p>
            <a:r>
              <a:rPr lang="ru-RU" dirty="0" smtClean="0"/>
              <a:t>	// </a:t>
            </a:r>
            <a:r>
              <a:rPr lang="ru-RU" dirty="0"/>
              <a:t>Код обработчика для Исключения2</a:t>
            </a:r>
          </a:p>
          <a:p>
            <a:r>
              <a:rPr lang="ru-RU" dirty="0" err="1" smtClean="0"/>
              <a:t>ОбработчикНеобработанных</a:t>
            </a:r>
            <a:endParaRPr lang="ru-RU" dirty="0"/>
          </a:p>
          <a:p>
            <a:r>
              <a:rPr lang="ru-RU" dirty="0" smtClean="0"/>
              <a:t>	// </a:t>
            </a:r>
            <a:r>
              <a:rPr lang="ru-RU" dirty="0"/>
              <a:t>Код обработки ранее не обработанных исключений</a:t>
            </a:r>
          </a:p>
          <a:p>
            <a:r>
              <a:rPr lang="ru-RU" dirty="0" err="1" smtClean="0"/>
              <a:t>КонецБлока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803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Блок с гарантией завершения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42385" y="1436197"/>
            <a:ext cx="107072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	</a:t>
            </a:r>
            <a:r>
              <a:rPr lang="ru-RU" dirty="0" smtClean="0"/>
              <a:t>Помимо </a:t>
            </a:r>
            <a:r>
              <a:rPr lang="ru-RU" dirty="0"/>
              <a:t>блоков контролируемого кода для обработки исключений, языки программирования могут поддерживать </a:t>
            </a:r>
            <a:r>
              <a:rPr lang="ru-RU" b="1" dirty="0"/>
              <a:t>блоки с гарантированным завершением</a:t>
            </a:r>
            <a:r>
              <a:rPr lang="ru-RU" dirty="0"/>
              <a:t>. Их использование оказывается удобным тогда, когда в некотором блоке кода, независимо от того, произошли ли какие-то ошибки, необходимо перед его завершением выполнить определённые действия. Простейший пример: если в процедуре динамически создаётся какой-то локальный объект в памяти, то перед выходом из этой процедуры объект должен быть уничтожен (чтобы избежать утечки памяти), независимо от того, произошли после его создания ошибки или нет.</a:t>
            </a:r>
          </a:p>
          <a:p>
            <a:r>
              <a:rPr lang="en-US" dirty="0" smtClean="0"/>
              <a:t>	</a:t>
            </a:r>
            <a:r>
              <a:rPr lang="ru-RU" dirty="0" smtClean="0"/>
              <a:t>Принципиальное </a:t>
            </a:r>
            <a:r>
              <a:rPr lang="ru-RU" dirty="0"/>
              <a:t>отличие блока с гарантированным завершением от обработки — то, что он не обрабатывает исключение, а лишь гарантирует выполнение определённого набора операций перед тем, как включится механизм обработки.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625548" y="4298519"/>
            <a:ext cx="2940908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ru-RU" dirty="0" err="1"/>
              <a:t>НачалоБлока</a:t>
            </a:r>
            <a:endParaRPr lang="ru-RU" dirty="0"/>
          </a:p>
          <a:p>
            <a:r>
              <a:rPr lang="ru-RU" dirty="0"/>
              <a:t>    ... // Основной код</a:t>
            </a:r>
          </a:p>
          <a:p>
            <a:r>
              <a:rPr lang="ru-RU" dirty="0"/>
              <a:t>  Завершение</a:t>
            </a:r>
          </a:p>
          <a:p>
            <a:r>
              <a:rPr lang="ru-RU" dirty="0"/>
              <a:t>    ... // Код завершения</a:t>
            </a:r>
          </a:p>
          <a:p>
            <a:r>
              <a:rPr lang="ru-RU" dirty="0"/>
              <a:t>  </a:t>
            </a:r>
            <a:r>
              <a:rPr lang="ru-RU" dirty="0" err="1"/>
              <a:t>КонецБлока</a:t>
            </a:r>
            <a:endParaRPr lang="ru-RU" dirty="0"/>
          </a:p>
        </p:txBody>
      </p:sp>
      <p:pic>
        <p:nvPicPr>
          <p:cNvPr id="11" name="Picture 2" descr="Мем: &quot;А у тебя его и нет!&quot; - Все шаблоны - Meme-arsenal.c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658" y="4653892"/>
            <a:ext cx="3320957" cy="199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67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899524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Обработка исключений С++(TRY CATCH)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87240" y="1486841"/>
            <a:ext cx="104175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	</a:t>
            </a:r>
            <a:r>
              <a:rPr lang="ru-RU" dirty="0" smtClean="0"/>
              <a:t>В </a:t>
            </a:r>
            <a:r>
              <a:rPr lang="ru-RU" dirty="0"/>
              <a:t>C++ мы используем ключевое слово </a:t>
            </a:r>
            <a:r>
              <a:rPr lang="ru-RU" dirty="0" err="1">
                <a:solidFill>
                  <a:srgbClr val="0000FF"/>
                </a:solidFill>
              </a:rPr>
              <a:t>try</a:t>
            </a:r>
            <a:r>
              <a:rPr lang="ru-RU" dirty="0" smtClean="0"/>
              <a:t> </a:t>
            </a:r>
            <a:r>
              <a:rPr lang="ru-RU" dirty="0"/>
              <a:t>для определения блока </a:t>
            </a:r>
            <a:r>
              <a:rPr lang="ru-RU" dirty="0" smtClean="0"/>
              <a:t>в котором по нашему предположению могут возникать ошибки. </a:t>
            </a:r>
            <a:r>
              <a:rPr lang="ru-RU" dirty="0"/>
              <a:t>Блок </a:t>
            </a:r>
            <a:r>
              <a:rPr lang="ru-RU" dirty="0" err="1">
                <a:solidFill>
                  <a:srgbClr val="0000FF"/>
                </a:solidFill>
              </a:rPr>
              <a:t>try</a:t>
            </a:r>
            <a:r>
              <a:rPr lang="ru-RU" dirty="0" smtClean="0"/>
              <a:t> </a:t>
            </a:r>
            <a:r>
              <a:rPr lang="ru-RU" dirty="0"/>
              <a:t>действует как наблюдатель, в поисках исключений, которые были выброшены каким-либо из операторов в этом же блоке </a:t>
            </a:r>
            <a:r>
              <a:rPr lang="ru-RU" dirty="0" err="1">
                <a:solidFill>
                  <a:srgbClr val="0000FF"/>
                </a:solidFill>
              </a:rPr>
              <a:t>try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 smtClean="0"/>
              <a:t>Обратите </a:t>
            </a:r>
            <a:r>
              <a:rPr lang="ru-RU" dirty="0"/>
              <a:t>внимание, блок </a:t>
            </a:r>
            <a:r>
              <a:rPr lang="ru-RU" dirty="0" err="1">
                <a:solidFill>
                  <a:srgbClr val="0000FF"/>
                </a:solidFill>
              </a:rPr>
              <a:t>try</a:t>
            </a:r>
            <a:r>
              <a:rPr lang="ru-RU" dirty="0" smtClean="0"/>
              <a:t> </a:t>
            </a:r>
            <a:r>
              <a:rPr lang="ru-RU" dirty="0"/>
              <a:t>не определяет, КАК мы будем обрабатывать исключение.</a:t>
            </a:r>
          </a:p>
          <a:p>
            <a:r>
              <a:rPr lang="ru-RU" dirty="0" smtClean="0"/>
              <a:t>Фактически</a:t>
            </a:r>
            <a:r>
              <a:rPr lang="ru-RU" dirty="0"/>
              <a:t>, обработка исключений — это работа блока(</a:t>
            </a:r>
            <a:r>
              <a:rPr lang="ru-RU" dirty="0" err="1"/>
              <a:t>ов</a:t>
            </a:r>
            <a:r>
              <a:rPr lang="ru-RU" dirty="0"/>
              <a:t>)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. </a:t>
            </a:r>
            <a:r>
              <a:rPr lang="ru-RU" dirty="0"/>
              <a:t>Ключевое слово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 </a:t>
            </a:r>
            <a:r>
              <a:rPr lang="ru-RU" dirty="0"/>
              <a:t>используется для определения блока кода (так называемого «блока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»), </a:t>
            </a:r>
            <a:r>
              <a:rPr lang="ru-RU" dirty="0"/>
              <a:t>который обрабатывает исключения определённого </a:t>
            </a:r>
            <a:r>
              <a:rPr lang="ru-RU" dirty="0" smtClean="0"/>
              <a:t>типа.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21105" y="5657671"/>
            <a:ext cx="10417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Блоки </a:t>
            </a:r>
            <a:r>
              <a:rPr lang="ru-RU" dirty="0" err="1">
                <a:solidFill>
                  <a:srgbClr val="0000FF"/>
                </a:solidFill>
              </a:rPr>
              <a:t>try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 </a:t>
            </a:r>
            <a:r>
              <a:rPr lang="ru-RU" dirty="0"/>
              <a:t>работают вместе. Блок </a:t>
            </a:r>
            <a:r>
              <a:rPr lang="ru-RU" dirty="0" err="1">
                <a:solidFill>
                  <a:srgbClr val="0000FF"/>
                </a:solidFill>
              </a:rPr>
              <a:t>try</a:t>
            </a:r>
            <a:r>
              <a:rPr lang="ru-RU" dirty="0" smtClean="0"/>
              <a:t> </a:t>
            </a:r>
            <a:r>
              <a:rPr lang="ru-RU" dirty="0"/>
              <a:t>обнаруживает любые исключения, которые были выброшены в нём, и направляет их в соответствующий блок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 </a:t>
            </a:r>
            <a:r>
              <a:rPr lang="ru-RU" dirty="0"/>
              <a:t>для обработки. Блок </a:t>
            </a:r>
            <a:r>
              <a:rPr lang="ru-RU" dirty="0" err="1">
                <a:solidFill>
                  <a:srgbClr val="0000FF"/>
                </a:solidFill>
              </a:rPr>
              <a:t>try</a:t>
            </a:r>
            <a:r>
              <a:rPr lang="ru-RU" dirty="0" smtClean="0"/>
              <a:t> </a:t>
            </a:r>
            <a:r>
              <a:rPr lang="ru-RU" dirty="0"/>
              <a:t>должен иметь, по крайней мере, один блок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, </a:t>
            </a:r>
            <a:r>
              <a:rPr lang="ru-RU" dirty="0"/>
              <a:t>который находится сразу же за </a:t>
            </a:r>
            <a:r>
              <a:rPr lang="ru-RU" dirty="0" smtClean="0"/>
              <a:t>ним. Допускается </a:t>
            </a:r>
            <a:r>
              <a:rPr lang="ru-RU" dirty="0"/>
              <a:t>несколько блоков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, </a:t>
            </a:r>
            <a:r>
              <a:rPr lang="ru-RU" dirty="0"/>
              <a:t>размещенных последовательно (друг за другом).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891724" y="3434032"/>
            <a:ext cx="73604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   // код который может сгенерировать исключение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ru-RU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e){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   // код который реагирует на появившееся исключение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</a:rPr>
              <a:t>Caught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 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</a:rPr>
              <a:t>exeption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."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364" y="3199749"/>
            <a:ext cx="3686884" cy="245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8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Генерация исключений(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THROW)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077361" y="1437778"/>
            <a:ext cx="1003727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	</a:t>
            </a:r>
            <a:r>
              <a:rPr lang="ru-RU" dirty="0" smtClean="0"/>
              <a:t>Параметры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 </a:t>
            </a:r>
            <a:r>
              <a:rPr lang="ru-RU" dirty="0"/>
              <a:t>работают так же, как и параметры функции, причём параметры одного блока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 </a:t>
            </a:r>
            <a:r>
              <a:rPr lang="ru-RU" dirty="0"/>
              <a:t>могут быть доступны и в другом блоке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 </a:t>
            </a:r>
            <a:r>
              <a:rPr lang="ru-RU" dirty="0"/>
              <a:t>(который находится за ним). Исключения фундаментальных типов данных могут быть пойманы по значению (параметром блока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 </a:t>
            </a:r>
            <a:r>
              <a:rPr lang="ru-RU" dirty="0"/>
              <a:t>является значение), но исключения не фундаментальных типов данных должны быть пойманы по константной ссылке (параметром блока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 smtClean="0"/>
              <a:t> </a:t>
            </a:r>
            <a:r>
              <a:rPr lang="ru-RU" dirty="0"/>
              <a:t>является константная ссылка), дабы избежать ненужного копирования</a:t>
            </a:r>
            <a:r>
              <a:rPr lang="ru-RU" dirty="0" smtClean="0"/>
              <a:t>.</a:t>
            </a:r>
          </a:p>
          <a:p>
            <a:r>
              <a:rPr lang="en-US" dirty="0"/>
              <a:t>	</a:t>
            </a:r>
            <a:r>
              <a:rPr lang="ru-RU" dirty="0"/>
              <a:t>В C++ оператор </a:t>
            </a:r>
            <a:r>
              <a:rPr lang="ru-RU" dirty="0" err="1">
                <a:solidFill>
                  <a:srgbClr val="0000FF"/>
                </a:solidFill>
              </a:rPr>
              <a:t>throw</a:t>
            </a:r>
            <a:r>
              <a:rPr lang="ru-RU" dirty="0"/>
              <a:t> используется, чтобы сигнализировать о возникновении исключения или ошибки. </a:t>
            </a:r>
            <a:r>
              <a:rPr lang="ru-RU" dirty="0" smtClean="0"/>
              <a:t>Оповещение </a:t>
            </a:r>
            <a:r>
              <a:rPr lang="ru-RU" dirty="0"/>
              <a:t>о том, что </a:t>
            </a:r>
            <a:r>
              <a:rPr lang="ru-RU" dirty="0" smtClean="0"/>
              <a:t>произошла нештатная ситуация в работе кода, </a:t>
            </a:r>
            <a:r>
              <a:rPr lang="ru-RU" dirty="0"/>
              <a:t>называется генерацией исключения (или ещё «выбрасыванием исключения</a:t>
            </a:r>
            <a:r>
              <a:rPr lang="ru-RU" dirty="0" smtClean="0"/>
              <a:t>»).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357718" y="4118121"/>
            <a:ext cx="90293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ru-RU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// генерация исключения типа 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ENUM_INVALID_INDEX;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// генерация исключения типа 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enum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"Невозможно </a:t>
            </a:r>
            <a:r>
              <a:rPr lang="ru-RU" dirty="0" smtClean="0">
                <a:solidFill>
                  <a:srgbClr val="A31515"/>
                </a:solidFill>
                <a:latin typeface="Consolas" panose="020B0609020204030204" pitchFamily="49" charset="0"/>
              </a:rPr>
              <a:t>извлечь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 корень из отрицательного числа"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// генерация исключения типа 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char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* (строка C-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style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dX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// генерация исключения типа 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double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(переменная типа 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double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, которая была определена ранее)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MyException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"Критическая ошибка"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// генерация исключения с использованием объекта класса 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MyException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79016"/>
            <a:ext cx="2357718" cy="23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9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исключений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4828" y="1387162"/>
            <a:ext cx="8477156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a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b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c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"Start with divide by zero."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"Before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divideBy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(b, a);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"After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runtime_error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e)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e.what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(...){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"Any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"End with divide by zero. c value is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c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5988423" y="1520903"/>
            <a:ext cx="6096000" cy="4832092"/>
            <a:chOff x="6096000" y="966788"/>
            <a:chExt cx="6096000" cy="4832092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6096000" y="966788"/>
              <a:ext cx="6096000" cy="135421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divideBy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what, 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by){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(by == </a:t>
              </a:r>
              <a:r>
                <a:rPr lang="en-US" sz="16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throw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logic_error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6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"Division by zero"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what / by;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8588720" y="2321005"/>
              <a:ext cx="3220016" cy="10772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600" dirty="0" err="1"/>
                <a:t>Start</a:t>
              </a:r>
              <a:r>
                <a:rPr lang="ru-RU" sz="1600" dirty="0"/>
                <a:t> </a:t>
              </a:r>
              <a:r>
                <a:rPr lang="ru-RU" sz="1600" dirty="0" err="1"/>
                <a:t>with</a:t>
              </a:r>
              <a:r>
                <a:rPr lang="ru-RU" sz="1600" dirty="0"/>
                <a:t> </a:t>
              </a:r>
              <a:r>
                <a:rPr lang="ru-RU" sz="1600" dirty="0" err="1"/>
                <a:t>divide</a:t>
              </a:r>
              <a:r>
                <a:rPr lang="ru-RU" sz="1600" dirty="0"/>
                <a:t> </a:t>
              </a:r>
              <a:r>
                <a:rPr lang="ru-RU" sz="1600" dirty="0" err="1"/>
                <a:t>by</a:t>
              </a:r>
              <a:r>
                <a:rPr lang="ru-RU" sz="1600" dirty="0"/>
                <a:t> </a:t>
              </a:r>
              <a:r>
                <a:rPr lang="ru-RU" sz="1600" dirty="0" err="1"/>
                <a:t>zero</a:t>
              </a:r>
              <a:r>
                <a:rPr lang="ru-RU" sz="1600" dirty="0"/>
                <a:t>.</a:t>
              </a:r>
            </a:p>
            <a:p>
              <a:r>
                <a:rPr lang="ru-RU" sz="1600" dirty="0" err="1"/>
                <a:t>Before</a:t>
              </a:r>
              <a:r>
                <a:rPr lang="ru-RU" sz="1600" dirty="0"/>
                <a:t> </a:t>
              </a:r>
              <a:r>
                <a:rPr lang="ru-RU" sz="1600" dirty="0" err="1"/>
                <a:t>exception</a:t>
              </a:r>
              <a:r>
                <a:rPr lang="ru-RU" sz="1600" dirty="0"/>
                <a:t>.</a:t>
              </a:r>
            </a:p>
            <a:p>
              <a:r>
                <a:rPr lang="ru-RU" sz="1600" dirty="0" err="1"/>
                <a:t>Any</a:t>
              </a:r>
              <a:r>
                <a:rPr lang="ru-RU" sz="1600" dirty="0"/>
                <a:t> </a:t>
              </a:r>
              <a:r>
                <a:rPr lang="ru-RU" sz="1600" dirty="0" err="1"/>
                <a:t>exception</a:t>
              </a:r>
              <a:r>
                <a:rPr lang="ru-RU" sz="1600" dirty="0"/>
                <a:t>.</a:t>
              </a:r>
            </a:p>
            <a:p>
              <a:r>
                <a:rPr lang="ru-RU" sz="1600" dirty="0" err="1"/>
                <a:t>End</a:t>
              </a:r>
              <a:r>
                <a:rPr lang="ru-RU" sz="1600" dirty="0"/>
                <a:t> </a:t>
              </a:r>
              <a:r>
                <a:rPr lang="ru-RU" sz="1600" dirty="0" err="1"/>
                <a:t>with</a:t>
              </a:r>
              <a:r>
                <a:rPr lang="ru-RU" sz="1600" dirty="0"/>
                <a:t> </a:t>
              </a:r>
              <a:r>
                <a:rPr lang="ru-RU" sz="1600" dirty="0" err="1"/>
                <a:t>divide</a:t>
              </a:r>
              <a:r>
                <a:rPr lang="ru-RU" sz="1600" dirty="0"/>
                <a:t> </a:t>
              </a:r>
              <a:r>
                <a:rPr lang="ru-RU" sz="1600" dirty="0" err="1"/>
                <a:t>by</a:t>
              </a:r>
              <a:r>
                <a:rPr lang="ru-RU" sz="1600" dirty="0"/>
                <a:t> </a:t>
              </a:r>
              <a:r>
                <a:rPr lang="ru-RU" sz="1600" dirty="0" err="1"/>
                <a:t>zero</a:t>
              </a:r>
              <a:r>
                <a:rPr lang="ru-RU" sz="1600" dirty="0"/>
                <a:t>. c </a:t>
              </a:r>
              <a:r>
                <a:rPr lang="ru-RU" sz="1600" dirty="0" err="1"/>
                <a:t>value</a:t>
              </a:r>
              <a:r>
                <a:rPr lang="ru-RU" sz="1600" dirty="0"/>
                <a:t> </a:t>
              </a:r>
              <a:r>
                <a:rPr lang="ru-RU" sz="1600" dirty="0" err="1"/>
                <a:t>is</a:t>
              </a:r>
              <a:r>
                <a:rPr lang="ru-RU" sz="1600" dirty="0"/>
                <a:t> 1</a:t>
              </a: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6096000" y="3398223"/>
              <a:ext cx="6096000" cy="132343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divideBy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what, 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by){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(by == </a:t>
              </a:r>
              <a:r>
                <a:rPr lang="en-US" sz="16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throw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runtime_error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6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"Division by zero"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what / by;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8588720" y="4721662"/>
              <a:ext cx="3220016" cy="10772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600" dirty="0" err="1"/>
                <a:t>Start</a:t>
              </a:r>
              <a:r>
                <a:rPr lang="ru-RU" sz="1600" dirty="0"/>
                <a:t> </a:t>
              </a:r>
              <a:r>
                <a:rPr lang="ru-RU" sz="1600" dirty="0" err="1"/>
                <a:t>with</a:t>
              </a:r>
              <a:r>
                <a:rPr lang="ru-RU" sz="1600" dirty="0"/>
                <a:t> </a:t>
              </a:r>
              <a:r>
                <a:rPr lang="ru-RU" sz="1600" dirty="0" err="1"/>
                <a:t>divide</a:t>
              </a:r>
              <a:r>
                <a:rPr lang="ru-RU" sz="1600" dirty="0"/>
                <a:t> </a:t>
              </a:r>
              <a:r>
                <a:rPr lang="ru-RU" sz="1600" dirty="0" err="1"/>
                <a:t>by</a:t>
              </a:r>
              <a:r>
                <a:rPr lang="ru-RU" sz="1600" dirty="0"/>
                <a:t> </a:t>
              </a:r>
              <a:r>
                <a:rPr lang="ru-RU" sz="1600" dirty="0" err="1"/>
                <a:t>zero</a:t>
              </a:r>
              <a:r>
                <a:rPr lang="ru-RU" sz="1600" dirty="0"/>
                <a:t>.</a:t>
              </a:r>
            </a:p>
            <a:p>
              <a:r>
                <a:rPr lang="ru-RU" sz="1600" dirty="0" err="1"/>
                <a:t>Before</a:t>
              </a:r>
              <a:r>
                <a:rPr lang="ru-RU" sz="1600" dirty="0"/>
                <a:t> </a:t>
              </a:r>
              <a:r>
                <a:rPr lang="ru-RU" sz="1600" dirty="0" err="1"/>
                <a:t>exception</a:t>
              </a:r>
              <a:r>
                <a:rPr lang="ru-RU" sz="1600" dirty="0"/>
                <a:t>.</a:t>
              </a:r>
            </a:p>
            <a:p>
              <a:r>
                <a:rPr lang="ru-RU" sz="1600" dirty="0" err="1"/>
                <a:t>Division</a:t>
              </a:r>
              <a:r>
                <a:rPr lang="ru-RU" sz="1600" dirty="0"/>
                <a:t> </a:t>
              </a:r>
              <a:r>
                <a:rPr lang="ru-RU" sz="1600" dirty="0" err="1"/>
                <a:t>by</a:t>
              </a:r>
              <a:r>
                <a:rPr lang="ru-RU" sz="1600" dirty="0"/>
                <a:t> </a:t>
              </a:r>
              <a:r>
                <a:rPr lang="ru-RU" sz="1600" dirty="0" err="1"/>
                <a:t>zero</a:t>
              </a:r>
              <a:endParaRPr lang="ru-RU" sz="1600" dirty="0"/>
            </a:p>
            <a:p>
              <a:r>
                <a:rPr lang="ru-RU" sz="1600" dirty="0" err="1"/>
                <a:t>End</a:t>
              </a:r>
              <a:r>
                <a:rPr lang="ru-RU" sz="1600" dirty="0"/>
                <a:t> </a:t>
              </a:r>
              <a:r>
                <a:rPr lang="ru-RU" sz="1600" dirty="0" err="1"/>
                <a:t>with</a:t>
              </a:r>
              <a:r>
                <a:rPr lang="ru-RU" sz="1600" dirty="0"/>
                <a:t> </a:t>
              </a:r>
              <a:r>
                <a:rPr lang="ru-RU" sz="1600" dirty="0" err="1"/>
                <a:t>divide</a:t>
              </a:r>
              <a:r>
                <a:rPr lang="ru-RU" sz="1600" dirty="0"/>
                <a:t> </a:t>
              </a:r>
              <a:r>
                <a:rPr lang="ru-RU" sz="1600" dirty="0" err="1"/>
                <a:t>by</a:t>
              </a:r>
              <a:r>
                <a:rPr lang="ru-RU" sz="1600" dirty="0"/>
                <a:t> </a:t>
              </a:r>
              <a:r>
                <a:rPr lang="ru-RU" sz="1600" dirty="0" err="1"/>
                <a:t>zero</a:t>
              </a:r>
              <a:r>
                <a:rPr lang="ru-RU" sz="1600" dirty="0"/>
                <a:t>. c </a:t>
              </a:r>
              <a:r>
                <a:rPr lang="ru-RU" sz="1600" dirty="0" err="1"/>
                <a:t>value</a:t>
              </a:r>
              <a:r>
                <a:rPr lang="ru-RU" sz="1600" dirty="0"/>
                <a:t> </a:t>
              </a:r>
              <a:r>
                <a:rPr lang="ru-RU" sz="1600" dirty="0" err="1"/>
                <a:t>is</a:t>
              </a:r>
              <a:r>
                <a:rPr lang="ru-RU" sz="1600" dirty="0"/>
                <a:t>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663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Последовательность обработки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3" name="Группа 2"/>
          <p:cNvGrpSpPr/>
          <p:nvPr/>
        </p:nvGrpSpPr>
        <p:grpSpPr>
          <a:xfrm>
            <a:off x="471005" y="1435690"/>
            <a:ext cx="11230154" cy="5218680"/>
            <a:chOff x="796705" y="1706066"/>
            <a:chExt cx="10598590" cy="5218680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796705" y="1706066"/>
              <a:ext cx="10598590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dirty="0"/>
                <a:t>	При выбрасывании исключения (оператор </a:t>
              </a:r>
              <a:r>
                <a:rPr lang="ru-RU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throw</a:t>
              </a:r>
              <a:r>
                <a:rPr lang="ru-RU" dirty="0" smtClean="0"/>
                <a:t>), </a:t>
              </a:r>
              <a:r>
                <a:rPr lang="ru-RU" dirty="0"/>
                <a:t>точка выполнения программы немедленно переходит к ближайшему блоку </a:t>
              </a:r>
              <a:r>
                <a:rPr lang="ru-RU" dirty="0" err="1">
                  <a:solidFill>
                    <a:srgbClr val="3B3BFF"/>
                  </a:solidFill>
                </a:rPr>
                <a:t>try</a:t>
              </a:r>
              <a:r>
                <a:rPr lang="ru-RU" dirty="0"/>
                <a:t>. Если какой-либо из обработчиков </a:t>
              </a:r>
              <a:r>
                <a:rPr lang="ru-RU" dirty="0" err="1">
                  <a:solidFill>
                    <a:srgbClr val="0000FF"/>
                  </a:solidFill>
                </a:rPr>
                <a:t>catch</a:t>
              </a:r>
              <a:r>
                <a:rPr lang="ru-RU" dirty="0" smtClean="0"/>
                <a:t>, </a:t>
              </a:r>
              <a:r>
                <a:rPr lang="ru-RU" dirty="0"/>
                <a:t>прикреплённых к блоку </a:t>
              </a:r>
              <a:r>
                <a:rPr lang="ru-RU" dirty="0" err="1"/>
                <a:t>try</a:t>
              </a:r>
              <a:r>
                <a:rPr lang="ru-RU" dirty="0"/>
                <a:t>, обрабатывает этот тип исключения, то точка выполнения переходит в этот обработчик и, после выполнения кода блока </a:t>
              </a:r>
              <a:r>
                <a:rPr lang="ru-RU" dirty="0" err="1">
                  <a:solidFill>
                    <a:srgbClr val="0000FF"/>
                  </a:solidFill>
                </a:rPr>
                <a:t>cat</a:t>
              </a:r>
              <a:r>
                <a:rPr lang="ru-RU" dirty="0" err="1">
                  <a:solidFill>
                    <a:srgbClr val="3B3BFF"/>
                  </a:solidFill>
                </a:rPr>
                <a:t>c</a:t>
              </a:r>
              <a:r>
                <a:rPr lang="ru-RU" dirty="0" err="1">
                  <a:solidFill>
                    <a:srgbClr val="0000FF"/>
                  </a:solidFill>
                </a:rPr>
                <a:t>h</a:t>
              </a:r>
              <a:r>
                <a:rPr lang="ru-RU" dirty="0" smtClean="0"/>
                <a:t>, </a:t>
              </a:r>
              <a:r>
                <a:rPr lang="ru-RU" dirty="0"/>
                <a:t>исключение считается обработанным.</a:t>
              </a:r>
            </a:p>
            <a:p>
              <a:r>
                <a:rPr lang="ru-RU" dirty="0"/>
                <a:t>	Если подходящих обработчиков </a:t>
              </a:r>
              <a:r>
                <a:rPr lang="ru-RU" dirty="0" err="1">
                  <a:solidFill>
                    <a:srgbClr val="0000FF"/>
                  </a:solidFill>
                </a:rPr>
                <a:t>catch</a:t>
              </a:r>
              <a:r>
                <a:rPr lang="ru-RU" dirty="0" smtClean="0"/>
                <a:t> </a:t>
              </a:r>
              <a:r>
                <a:rPr lang="ru-RU" dirty="0"/>
                <a:t>не существует, то выполнение программы переходит в следующий блок </a:t>
              </a:r>
              <a:r>
                <a:rPr lang="ru-RU" dirty="0" err="1">
                  <a:solidFill>
                    <a:srgbClr val="3B3BFF"/>
                  </a:solidFill>
                </a:rPr>
                <a:t>try</a:t>
              </a:r>
              <a:r>
                <a:rPr lang="ru-RU" dirty="0"/>
                <a:t>. Если до конца программы не найдены соответствующие обработчики </a:t>
              </a:r>
              <a:r>
                <a:rPr lang="ru-RU" dirty="0" err="1">
                  <a:solidFill>
                    <a:srgbClr val="0000FF"/>
                  </a:solidFill>
                </a:rPr>
                <a:t>catch</a:t>
              </a:r>
              <a:r>
                <a:rPr lang="ru-RU" dirty="0" smtClean="0"/>
                <a:t>, </a:t>
              </a:r>
              <a:r>
                <a:rPr lang="ru-RU" dirty="0"/>
                <a:t>то программа завершает своё выполнение с ошибкой исключения</a:t>
              </a:r>
              <a:r>
                <a:rPr lang="ru-RU" dirty="0" smtClean="0"/>
                <a:t>.</a:t>
              </a:r>
              <a:endParaRPr lang="ru-RU" dirty="0"/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4554695" y="6001416"/>
              <a:ext cx="6096000" cy="923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dirty="0">
                  <a:solidFill>
                    <a:srgbClr val="0000FF"/>
                  </a:solidFill>
                  <a:latin typeface="Consolas" panose="020B0609020204030204" pitchFamily="49" charset="0"/>
                </a:rPr>
                <a:t>catch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(...){</a:t>
              </a:r>
            </a:p>
            <a:p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dirty="0">
                  <a:solidFill>
                    <a:srgbClr val="A31515"/>
                  </a:solidFill>
                  <a:latin typeface="Consolas" panose="020B0609020204030204" pitchFamily="49" charset="0"/>
                </a:rPr>
                <a:t>"Any exception."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}</a:t>
              </a:r>
              <a:endPara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05" y="3442586"/>
            <a:ext cx="3451306" cy="3292477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3922310" y="3342024"/>
            <a:ext cx="81979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Обратите внимание, компилятор не выполняет неявные преобразования при сопоставлении исключений с блоками </a:t>
            </a:r>
            <a:r>
              <a:rPr lang="ru-RU" dirty="0" err="1">
                <a:solidFill>
                  <a:srgbClr val="3B3BFF"/>
                </a:solidFill>
              </a:rPr>
              <a:t>catch</a:t>
            </a:r>
            <a:r>
              <a:rPr lang="ru-RU" dirty="0"/>
              <a:t>! Например, исключение типа </a:t>
            </a:r>
            <a:r>
              <a:rPr lang="ru-RU" dirty="0" err="1">
                <a:solidFill>
                  <a:srgbClr val="3B3BFF"/>
                </a:solidFill>
              </a:rPr>
              <a:t>char</a:t>
            </a:r>
            <a:r>
              <a:rPr lang="ru-RU" dirty="0"/>
              <a:t> не будет обрабатываться блоком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/>
              <a:t> типа </a:t>
            </a:r>
            <a:r>
              <a:rPr lang="ru-RU" dirty="0" err="1">
                <a:solidFill>
                  <a:srgbClr val="3B3BFF"/>
                </a:solidFill>
              </a:rPr>
              <a:t>int</a:t>
            </a:r>
            <a:r>
              <a:rPr lang="ru-RU" dirty="0"/>
              <a:t>, исключение типа </a:t>
            </a:r>
            <a:r>
              <a:rPr lang="ru-RU" dirty="0" err="1">
                <a:solidFill>
                  <a:srgbClr val="3B3BFF"/>
                </a:solidFill>
              </a:rPr>
              <a:t>int</a:t>
            </a:r>
            <a:r>
              <a:rPr lang="ru-RU" dirty="0"/>
              <a:t>, в свою очередь, не будет обрабатываться блоком </a:t>
            </a:r>
            <a:r>
              <a:rPr lang="ru-RU" dirty="0" err="1">
                <a:solidFill>
                  <a:srgbClr val="0000FF"/>
                </a:solidFill>
              </a:rPr>
              <a:t>catch</a:t>
            </a:r>
            <a:r>
              <a:rPr lang="ru-RU" dirty="0"/>
              <a:t> типа </a:t>
            </a:r>
            <a:r>
              <a:rPr lang="ru-RU" dirty="0" err="1">
                <a:solidFill>
                  <a:srgbClr val="3B3BFF"/>
                </a:solidFill>
              </a:rPr>
              <a:t>float</a:t>
            </a:r>
            <a:r>
              <a:rPr lang="ru-RU" dirty="0"/>
              <a:t>.</a:t>
            </a:r>
            <a:endParaRPr lang="en-US" dirty="0"/>
          </a:p>
          <a:p>
            <a:r>
              <a:rPr lang="en-US" dirty="0"/>
              <a:t>	</a:t>
            </a:r>
            <a:r>
              <a:rPr lang="ru-RU" dirty="0"/>
              <a:t>Так же существует обработчик исключений </a:t>
            </a:r>
            <a:r>
              <a:rPr lang="en-US" dirty="0">
                <a:solidFill>
                  <a:srgbClr val="3B3BFF"/>
                </a:solidFill>
              </a:rPr>
              <a:t>catch-all</a:t>
            </a:r>
            <a:r>
              <a:rPr lang="en-US" dirty="0"/>
              <a:t> </a:t>
            </a:r>
            <a:r>
              <a:rPr lang="ru-RU" dirty="0"/>
              <a:t>который отлавливает исключения всех типов и видов, но не может использовать значения этих исключений. Обработчик </a:t>
            </a:r>
            <a:r>
              <a:rPr lang="ru-RU" dirty="0" err="1">
                <a:solidFill>
                  <a:srgbClr val="3B3BFF"/>
                </a:solidFill>
              </a:rPr>
              <a:t>catch-all</a:t>
            </a:r>
            <a:r>
              <a:rPr lang="ru-RU" dirty="0"/>
              <a:t> должен </a:t>
            </a:r>
            <a:r>
              <a:rPr lang="ru-RU" dirty="0" smtClean="0"/>
              <a:t>находит</a:t>
            </a:r>
            <a:r>
              <a:rPr lang="ru-RU" dirty="0"/>
              <a:t>ь</a:t>
            </a:r>
            <a:r>
              <a:rPr lang="ru-RU" dirty="0" smtClean="0"/>
              <a:t>ся </a:t>
            </a:r>
            <a:r>
              <a:rPr lang="ru-RU" dirty="0"/>
              <a:t>последним в цепочке блоков </a:t>
            </a:r>
            <a:r>
              <a:rPr lang="ru-RU" dirty="0" err="1">
                <a:solidFill>
                  <a:srgbClr val="3B3BFF"/>
                </a:solidFill>
              </a:rPr>
              <a:t>catch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0909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Некоторые особенности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779929" y="1431910"/>
            <a:ext cx="10632142" cy="5355312"/>
            <a:chOff x="779929" y="1431910"/>
            <a:chExt cx="10632142" cy="5355312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779929" y="1431910"/>
              <a:ext cx="10632142" cy="53553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dirty="0"/>
                <a:t>	Если исключение направлено в блок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r>
                <a:rPr lang="ru-RU" dirty="0"/>
                <a:t>, то оно считается «обработанным», даже если блок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r>
                <a:rPr lang="ru-RU" dirty="0"/>
                <a:t> пуст. Однако, как правило, вы захотите, чтобы ваши блоки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r>
                <a:rPr lang="ru-RU" dirty="0"/>
                <a:t> делали что-то полезное. Есть три распространённые вещи, которые выполняют блоки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r>
                <a:rPr lang="ru-RU" dirty="0"/>
                <a:t>, когда они поймали исключение</a:t>
              </a:r>
              <a:r>
                <a:rPr lang="ru-RU" dirty="0" smtClean="0"/>
                <a:t>:</a:t>
              </a:r>
            </a:p>
            <a:p>
              <a:endParaRPr lang="ru-RU" dirty="0"/>
            </a:p>
            <a:p>
              <a:endParaRPr lang="ru-RU" dirty="0" smtClean="0"/>
            </a:p>
            <a:p>
              <a:endParaRPr lang="ru-RU" dirty="0"/>
            </a:p>
            <a:p>
              <a:endParaRPr lang="ru-RU" dirty="0" smtClean="0"/>
            </a:p>
            <a:p>
              <a:endParaRPr lang="ru-RU" dirty="0"/>
            </a:p>
            <a:p>
              <a:endParaRPr lang="ru-RU" dirty="0" smtClean="0"/>
            </a:p>
            <a:p>
              <a:endParaRPr lang="ru-RU" dirty="0"/>
            </a:p>
            <a:p>
              <a:endParaRPr lang="ru-RU" dirty="0" smtClean="0"/>
            </a:p>
            <a:p>
              <a:endParaRPr lang="ru-RU" dirty="0"/>
            </a:p>
            <a:p>
              <a:endParaRPr lang="ru-RU" dirty="0"/>
            </a:p>
            <a:p>
              <a:r>
                <a:rPr lang="ru-RU" dirty="0"/>
                <a:t>	Блок </a:t>
              </a:r>
              <a:r>
                <a:rPr lang="ru-RU" dirty="0" err="1">
                  <a:solidFill>
                    <a:srgbClr val="3B3BFF"/>
                  </a:solidFill>
                </a:rPr>
                <a:t>try</a:t>
              </a:r>
              <a:r>
                <a:rPr lang="ru-RU" dirty="0"/>
                <a:t> ловит исключения не только внутри себя, но и внутри функций, которые вызываются в блоке </a:t>
              </a:r>
              <a:r>
                <a:rPr lang="ru-RU" dirty="0" err="1">
                  <a:solidFill>
                    <a:srgbClr val="3B3BFF"/>
                  </a:solidFill>
                </a:rPr>
                <a:t>try</a:t>
              </a:r>
              <a:r>
                <a:rPr lang="ru-RU" dirty="0"/>
                <a:t>.</a:t>
              </a:r>
              <a:endParaRPr lang="en-US" dirty="0"/>
            </a:p>
            <a:p>
              <a:r>
                <a:rPr lang="ru-RU" dirty="0"/>
                <a:t>	</a:t>
              </a:r>
              <a:r>
                <a:rPr lang="ru-RU" dirty="0" smtClean="0"/>
                <a:t>Непосредственно тот кто </a:t>
              </a:r>
              <a:r>
                <a:rPr lang="ru-RU" dirty="0"/>
                <a:t>вызывает функцию и в которой выбрасывается исключение, не обязан обрабатывать это исключение, если он этого не хочет.</a:t>
              </a:r>
              <a:endParaRPr lang="en-US" dirty="0"/>
            </a:p>
            <a:p>
              <a:r>
                <a:rPr lang="ru-RU" dirty="0"/>
                <a:t>	Когда исключение обработано, выполнение кода продолжается как обычно, начиная с конца блока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endParaRPr lang="ru-RU" dirty="0">
                <a:solidFill>
                  <a:srgbClr val="3B3BFF"/>
                </a:solidFill>
              </a:endParaRPr>
            </a:p>
          </p:txBody>
        </p:sp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930" y="2322320"/>
              <a:ext cx="2734236" cy="2734236"/>
            </a:xfrm>
            <a:prstGeom prst="rect">
              <a:avLst/>
            </a:prstGeom>
          </p:spPr>
        </p:pic>
        <p:sp>
          <p:nvSpPr>
            <p:cNvPr id="6" name="Прямоугольник 5"/>
            <p:cNvSpPr/>
            <p:nvPr/>
          </p:nvSpPr>
          <p:spPr>
            <a:xfrm>
              <a:off x="2581835" y="2537706"/>
              <a:ext cx="8830236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8400" indent="-271463">
                <a:buFont typeface="Arial" panose="020B0604020202020204" pitchFamily="34" charset="0"/>
                <a:buChar char="•"/>
              </a:pPr>
              <a:r>
                <a:rPr lang="ru-RU" dirty="0"/>
                <a:t>Во-первых, блок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r>
                <a:rPr lang="ru-RU" dirty="0"/>
                <a:t> может вывести сообщение об ошибке (либо в консоль, либо в лог-файл).</a:t>
              </a:r>
            </a:p>
            <a:p>
              <a:pPr marL="1168400" indent="-271463">
                <a:buFont typeface="Arial" panose="020B0604020202020204" pitchFamily="34" charset="0"/>
                <a:buChar char="•"/>
              </a:pPr>
              <a:r>
                <a:rPr lang="ru-RU" dirty="0"/>
                <a:t>Во-вторых, блок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r>
                <a:rPr lang="ru-RU" dirty="0"/>
                <a:t> может возвратить значение или код ошибки обратно в место вызова функции в которой произошло исключение и было обработано.</a:t>
              </a:r>
            </a:p>
            <a:p>
              <a:pPr marL="1168400" indent="-271463">
                <a:buFont typeface="Arial" panose="020B0604020202020204" pitchFamily="34" charset="0"/>
                <a:buChar char="•"/>
              </a:pPr>
              <a:r>
                <a:rPr lang="ru-RU" dirty="0"/>
                <a:t>В-третьих, блок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r>
                <a:rPr lang="ru-RU" dirty="0"/>
                <a:t> может сгенерировать другое исключения. Поскольку блок </a:t>
              </a:r>
              <a:r>
                <a:rPr lang="ru-RU" dirty="0" err="1">
                  <a:solidFill>
                    <a:srgbClr val="3B3BFF"/>
                  </a:solidFill>
                </a:rPr>
                <a:t>catch</a:t>
              </a:r>
              <a:r>
                <a:rPr lang="ru-RU" dirty="0"/>
                <a:t> не находится внутри блока </a:t>
              </a:r>
              <a:r>
                <a:rPr lang="ru-RU" dirty="0" err="1">
                  <a:solidFill>
                    <a:srgbClr val="3B3BFF"/>
                  </a:solidFill>
                </a:rPr>
                <a:t>try</a:t>
              </a:r>
              <a:r>
                <a:rPr lang="ru-RU" dirty="0"/>
                <a:t>, то новое сгенерированное исключение будет обрабатываться следующим в иерархии блоком </a:t>
              </a:r>
              <a:r>
                <a:rPr lang="ru-RU" dirty="0" err="1">
                  <a:solidFill>
                    <a:srgbClr val="3B3BFF"/>
                  </a:solidFill>
                </a:rPr>
                <a:t>try</a:t>
              </a:r>
              <a:r>
                <a:rPr lang="ru-RU" dirty="0"/>
                <a:t>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146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исключений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293261" y="1360905"/>
            <a:ext cx="11605478" cy="5047536"/>
            <a:chOff x="81481" y="1263578"/>
            <a:chExt cx="11507442" cy="5047536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81481" y="1263578"/>
              <a:ext cx="9349212" cy="5047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last(){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</a:t>
              </a:r>
              <a:r>
                <a:rPr lang="ru-RU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вызывается функцией 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three()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Функция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last"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Выбрасываем исключение типа </a:t>
              </a:r>
              <a:r>
                <a:rPr lang="en-US" sz="14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 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в функции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last"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throw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-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Конец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last"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three(){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</a:t>
              </a:r>
              <a:r>
                <a:rPr lang="ru-RU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вызывается функцией 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two()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Функция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three &lt;&lt; </a:t>
              </a:r>
              <a:r>
                <a:rPr lang="en-US" sz="14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last();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Конец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three"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two(){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</a:t>
              </a:r>
              <a:r>
                <a:rPr lang="ru-RU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вызывается функцией 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one()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Функция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two"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try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three();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catch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double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cerr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Поймано исключение типа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double 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в функции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two"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Конец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two"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4240527" y="2340796"/>
              <a:ext cx="7348396" cy="2893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one(){</a:t>
              </a:r>
              <a:r>
                <a:rPr lang="en-US" sz="1400" dirty="0" smtClean="0">
                  <a:solidFill>
                    <a:srgbClr val="008000"/>
                  </a:solidFill>
                  <a:latin typeface="Consolas" panose="020B0609020204030204" pitchFamily="49" charset="0"/>
                </a:rPr>
                <a:t> // </a:t>
              </a:r>
              <a:r>
                <a:rPr lang="ru-RU" sz="1400" dirty="0" smtClean="0">
                  <a:solidFill>
                    <a:srgbClr val="008000"/>
                  </a:solidFill>
                  <a:latin typeface="Consolas" panose="020B0609020204030204" pitchFamily="49" charset="0"/>
                </a:rPr>
                <a:t>вызывается функцией </a:t>
              </a:r>
              <a:r>
                <a:rPr lang="en-US" sz="1400" dirty="0" smtClean="0">
                  <a:solidFill>
                    <a:srgbClr val="008000"/>
                  </a:solidFill>
                  <a:latin typeface="Consolas" panose="020B0609020204030204" pitchFamily="49" charset="0"/>
                </a:rPr>
                <a:t>main()</a:t>
              </a:r>
              <a:endPara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Функция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one"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smtClean="0">
                  <a:solidFill>
                    <a:srgbClr val="0000FF"/>
                  </a:solidFill>
                  <a:latin typeface="Consolas" panose="020B0609020204030204" pitchFamily="49" charset="0"/>
                </a:rPr>
                <a:t>try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two();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}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smtClean="0">
                  <a:solidFill>
                    <a:srgbClr val="0000FF"/>
                  </a:solidFill>
                  <a:latin typeface="Consolas" panose="020B0609020204030204" pitchFamily="49" charset="0"/>
                </a:rPr>
                <a:t>catch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(</a:t>
              </a:r>
              <a:r>
                <a:rPr lang="en-US" sz="1400" dirty="0" err="1" smtClean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){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 </a:t>
              </a:r>
              <a:r>
                <a:rPr lang="en-US" sz="1400" dirty="0" err="1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cerr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Поймано исключение типа </a:t>
              </a:r>
              <a:r>
                <a:rPr lang="en-US" sz="1400" dirty="0" err="1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 </a:t>
              </a:r>
              <a:r>
                <a:rPr lang="ru-RU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в функции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one"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}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smtClean="0">
                  <a:solidFill>
                    <a:srgbClr val="0000FF"/>
                  </a:solidFill>
                  <a:latin typeface="Consolas" panose="020B0609020204030204" pitchFamily="49" charset="0"/>
                </a:rPr>
                <a:t>catch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(</a:t>
              </a:r>
              <a:r>
                <a:rPr lang="en-US" sz="1400" dirty="0" smtClean="0">
                  <a:solidFill>
                    <a:srgbClr val="0000FF"/>
                  </a:solidFill>
                  <a:latin typeface="Consolas" panose="020B0609020204030204" pitchFamily="49" charset="0"/>
                </a:rPr>
                <a:t>double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){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 </a:t>
              </a:r>
              <a:r>
                <a:rPr lang="en-US" sz="1400" dirty="0" err="1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cerr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Поймано исключение типа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double </a:t>
              </a:r>
              <a:r>
                <a:rPr lang="ru-RU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в функции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one"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}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Конец </a:t>
              </a:r>
              <a:r>
                <a:rPr lang="en-US" sz="1400" dirty="0" smtClean="0">
                  <a:solidFill>
                    <a:srgbClr val="A31515"/>
                  </a:solidFill>
                  <a:latin typeface="Consolas" panose="020B0609020204030204" pitchFamily="49" charset="0"/>
                </a:rPr>
                <a:t>one"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48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исключений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6" y="874911"/>
            <a:ext cx="931397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 smtClean="0">
                <a:solidFill>
                  <a:srgbClr val="A31515"/>
                </a:solidFill>
                <a:latin typeface="Consolas" panose="020B0609020204030204" pitchFamily="49" charset="0"/>
              </a:rPr>
              <a:t>Начало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main"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one();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Поймано исключение типа 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 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в функции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main"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Конец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main"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579664" y="3995678"/>
            <a:ext cx="5009584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 smtClean="0"/>
              <a:t>Начало </a:t>
            </a:r>
            <a:r>
              <a:rPr lang="ru-RU" dirty="0" err="1"/>
              <a:t>main</a:t>
            </a:r>
            <a:endParaRPr lang="ru-RU" dirty="0"/>
          </a:p>
          <a:p>
            <a:r>
              <a:rPr lang="ru-RU" dirty="0"/>
              <a:t>Функция </a:t>
            </a:r>
            <a:r>
              <a:rPr lang="ru-RU" dirty="0" err="1"/>
              <a:t>one</a:t>
            </a:r>
            <a:endParaRPr lang="ru-RU" dirty="0"/>
          </a:p>
          <a:p>
            <a:r>
              <a:rPr lang="ru-RU" dirty="0"/>
              <a:t>Функция </a:t>
            </a:r>
            <a:r>
              <a:rPr lang="ru-RU" dirty="0" err="1"/>
              <a:t>two</a:t>
            </a:r>
            <a:endParaRPr lang="ru-RU" dirty="0"/>
          </a:p>
          <a:p>
            <a:r>
              <a:rPr lang="ru-RU" dirty="0"/>
              <a:t>Функция </a:t>
            </a:r>
            <a:r>
              <a:rPr lang="ru-RU" dirty="0" err="1"/>
              <a:t>three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smtClean="0"/>
              <a:t>Функция </a:t>
            </a:r>
            <a:r>
              <a:rPr lang="ru-RU" dirty="0" err="1"/>
              <a:t>last</a:t>
            </a:r>
            <a:endParaRPr lang="ru-RU" dirty="0"/>
          </a:p>
          <a:p>
            <a:r>
              <a:rPr lang="ru-RU" dirty="0"/>
              <a:t>Выбрасываем исключение типа </a:t>
            </a:r>
            <a:r>
              <a:rPr lang="ru-RU" dirty="0" err="1"/>
              <a:t>int</a:t>
            </a:r>
            <a:r>
              <a:rPr lang="ru-RU" dirty="0"/>
              <a:t> в функции </a:t>
            </a:r>
            <a:r>
              <a:rPr lang="ru-RU" dirty="0" err="1"/>
              <a:t>last</a:t>
            </a:r>
            <a:endParaRPr lang="ru-RU" dirty="0"/>
          </a:p>
          <a:p>
            <a:r>
              <a:rPr lang="ru-RU" dirty="0"/>
              <a:t>Поймано исключение типа </a:t>
            </a:r>
            <a:r>
              <a:rPr lang="ru-RU" dirty="0" err="1"/>
              <a:t>int</a:t>
            </a:r>
            <a:r>
              <a:rPr lang="ru-RU" dirty="0"/>
              <a:t> в функции </a:t>
            </a:r>
            <a:r>
              <a:rPr lang="ru-RU" dirty="0" err="1"/>
              <a:t>one</a:t>
            </a:r>
            <a:endParaRPr lang="ru-RU" dirty="0"/>
          </a:p>
          <a:p>
            <a:r>
              <a:rPr lang="ru-RU" dirty="0"/>
              <a:t>Конец </a:t>
            </a:r>
            <a:r>
              <a:rPr lang="ru-RU" dirty="0" err="1"/>
              <a:t>one</a:t>
            </a:r>
            <a:endParaRPr lang="ru-RU" dirty="0"/>
          </a:p>
          <a:p>
            <a:r>
              <a:rPr lang="ru-RU" dirty="0"/>
              <a:t>Конец </a:t>
            </a:r>
            <a:r>
              <a:rPr lang="ru-RU" dirty="0" err="1"/>
              <a:t>main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Локальность контроля исключения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42385" y="1436197"/>
            <a:ext cx="1070723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Исключение должно обрабатываться только там, где у кода есть достаточный контекст для принятия корректного решения. Если у участка кода </a:t>
            </a:r>
            <a:r>
              <a:rPr lang="ru-RU" b="1" dirty="0"/>
              <a:t>нет информации</a:t>
            </a:r>
            <a:r>
              <a:rPr lang="ru-RU" dirty="0"/>
              <a:t>, чтобы восстановиться, — он не должен ловить исключение</a:t>
            </a:r>
            <a:r>
              <a:rPr lang="ru-RU" dirty="0" smtClean="0"/>
              <a:t>.</a:t>
            </a:r>
          </a:p>
          <a:p>
            <a:r>
              <a:rPr lang="ru-RU" dirty="0"/>
              <a:t>Когда исключение выбрасывается, код на более низком уровне: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не знает бизнес-смысл</a:t>
            </a:r>
            <a:r>
              <a:rPr lang="ru-RU" dirty="0"/>
              <a:t> операции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не понимает контекст, в котором он вызван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не имеет информации, что делать после сбоя</a:t>
            </a:r>
            <a:endParaRPr lang="ru-RU" dirty="0"/>
          </a:p>
          <a:p>
            <a:r>
              <a:rPr lang="ru-RU" dirty="0" smtClean="0"/>
              <a:t>Нару </a:t>
            </a:r>
            <a:r>
              <a:rPr lang="ru-RU" dirty="0"/>
              <a:t>принцип </a:t>
            </a:r>
            <a:r>
              <a:rPr lang="ru-RU" dirty="0" smtClean="0"/>
              <a:t>локальности например</a:t>
            </a:r>
            <a:r>
              <a:rPr lang="en-US" dirty="0" smtClean="0"/>
              <a:t>: </a:t>
            </a:r>
            <a:r>
              <a:rPr lang="ru-RU" dirty="0"/>
              <a:t>п</a:t>
            </a:r>
            <a:r>
              <a:rPr lang="ru-RU" dirty="0" smtClean="0"/>
              <a:t>устые </a:t>
            </a:r>
            <a:r>
              <a:rPr lang="en-US" dirty="0"/>
              <a:t>catch-</a:t>
            </a:r>
            <a:r>
              <a:rPr lang="ru-RU" dirty="0" smtClean="0"/>
              <a:t>блоки, </a:t>
            </a:r>
            <a:r>
              <a:rPr lang="ru-RU" dirty="0"/>
              <a:t>л</a:t>
            </a:r>
            <a:r>
              <a:rPr lang="ru-RU" dirty="0" smtClean="0"/>
              <a:t>овля </a:t>
            </a:r>
            <a:r>
              <a:rPr lang="ru-RU" dirty="0"/>
              <a:t>исключений слишком </a:t>
            </a:r>
            <a:r>
              <a:rPr lang="ru-RU" dirty="0" smtClean="0"/>
              <a:t>низко или ловля </a:t>
            </a:r>
            <a:r>
              <a:rPr lang="ru-RU" dirty="0"/>
              <a:t>исключений ради </a:t>
            </a:r>
            <a:r>
              <a:rPr lang="ru-RU" dirty="0" err="1" smtClean="0"/>
              <a:t>логирования</a:t>
            </a:r>
            <a:r>
              <a:rPr lang="ru-RU" dirty="0"/>
              <a:t> (Допустимо, но если этот ловец стоит слишком низко, то он лишь шумит</a:t>
            </a:r>
            <a:r>
              <a:rPr lang="ru-RU" dirty="0" smtClean="0"/>
              <a:t>.)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42385" y="4021520"/>
            <a:ext cx="529982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Где </a:t>
            </a:r>
            <a:r>
              <a:rPr lang="ru-RU" b="1" dirty="0"/>
              <a:t>ловить локально правильно: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повторить операцию (</a:t>
            </a:r>
            <a:r>
              <a:rPr lang="ru-RU" dirty="0" err="1"/>
              <a:t>retry</a:t>
            </a:r>
            <a:r>
              <a:rPr lang="ru-RU" dirty="0"/>
              <a:t>) — если модуль знает, что это безопасно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откатить транзакцию локального ресурса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закрыть файл, освободить ресурс (если нет механизма RAII)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преобразовать низкоуровневую ошибку в высокоуровневую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завершить поток/задачу контролируемым образом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042211" y="4034774"/>
            <a:ext cx="540740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Где ловить</a:t>
            </a:r>
            <a:r>
              <a:rPr lang="en-US" b="1" dirty="0" smtClean="0"/>
              <a:t> </a:t>
            </a:r>
            <a:r>
              <a:rPr lang="ru-RU" b="1" dirty="0" smtClean="0"/>
              <a:t>локально не правильно</a:t>
            </a:r>
            <a:r>
              <a:rPr lang="en-US" dirty="0" smtClean="0"/>
              <a:t>: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если </a:t>
            </a:r>
            <a:r>
              <a:rPr lang="ru-RU" dirty="0"/>
              <a:t>нет информации для восстановления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ошибка нарушает бизнес-правило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она связана с неправильными входными данными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это программный дефект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это проблема инфраструктуры (сеть, диск, БД), которую решает другой уровень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восстановление зависит от логики приложения, а не от технического </a:t>
            </a:r>
            <a:r>
              <a:rPr lang="ru-RU" dirty="0" smtClean="0"/>
              <a:t>модуля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17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Локальность контроля исключения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42385" y="1436197"/>
            <a:ext cx="1070723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Исключение должно обрабатываться только там, где у кода есть достаточный контекст для принятия корректного решения. Если у участка кода </a:t>
            </a:r>
            <a:r>
              <a:rPr lang="ru-RU" b="1" dirty="0"/>
              <a:t>нет информации</a:t>
            </a:r>
            <a:r>
              <a:rPr lang="ru-RU" dirty="0"/>
              <a:t>, чтобы восстановиться, — он не должен ловить исключение</a:t>
            </a:r>
            <a:r>
              <a:rPr lang="ru-RU" dirty="0" smtClean="0"/>
              <a:t>.</a:t>
            </a:r>
          </a:p>
          <a:p>
            <a:r>
              <a:rPr lang="ru-RU" dirty="0"/>
              <a:t>Когда исключение выбрасывается, код на более низком уровне: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не знает бизнес-смысл</a:t>
            </a:r>
            <a:r>
              <a:rPr lang="ru-RU" dirty="0"/>
              <a:t> операции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не понимает контекст, в котором он вызван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не имеет информации, что делать после сбоя</a:t>
            </a:r>
            <a:endParaRPr lang="ru-RU" dirty="0"/>
          </a:p>
          <a:p>
            <a:r>
              <a:rPr lang="ru-RU" dirty="0" smtClean="0"/>
              <a:t>Нару </a:t>
            </a:r>
            <a:r>
              <a:rPr lang="ru-RU" dirty="0"/>
              <a:t>принцип </a:t>
            </a:r>
            <a:r>
              <a:rPr lang="ru-RU" dirty="0" smtClean="0"/>
              <a:t>локальности например</a:t>
            </a:r>
            <a:r>
              <a:rPr lang="en-US" dirty="0" smtClean="0"/>
              <a:t>: </a:t>
            </a:r>
            <a:r>
              <a:rPr lang="ru-RU" dirty="0"/>
              <a:t>п</a:t>
            </a:r>
            <a:r>
              <a:rPr lang="ru-RU" dirty="0" smtClean="0"/>
              <a:t>устые </a:t>
            </a:r>
            <a:r>
              <a:rPr lang="en-US" dirty="0"/>
              <a:t>catch-</a:t>
            </a:r>
            <a:r>
              <a:rPr lang="ru-RU" dirty="0" smtClean="0"/>
              <a:t>блоки, </a:t>
            </a:r>
            <a:r>
              <a:rPr lang="ru-RU" dirty="0"/>
              <a:t>л</a:t>
            </a:r>
            <a:r>
              <a:rPr lang="ru-RU" dirty="0" smtClean="0"/>
              <a:t>овля </a:t>
            </a:r>
            <a:r>
              <a:rPr lang="ru-RU" dirty="0"/>
              <a:t>исключений слишком </a:t>
            </a:r>
            <a:r>
              <a:rPr lang="ru-RU" dirty="0" smtClean="0"/>
              <a:t>низко или ловля </a:t>
            </a:r>
            <a:r>
              <a:rPr lang="ru-RU" dirty="0"/>
              <a:t>исключений ради </a:t>
            </a:r>
            <a:r>
              <a:rPr lang="ru-RU" dirty="0" err="1" smtClean="0"/>
              <a:t>логирования</a:t>
            </a:r>
            <a:r>
              <a:rPr lang="ru-RU" dirty="0"/>
              <a:t> (Допустимо, но если этот ловец стоит слишком низко, то он лишь шумит</a:t>
            </a:r>
            <a:r>
              <a:rPr lang="ru-RU" dirty="0" smtClean="0"/>
              <a:t>.)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42385" y="4021520"/>
            <a:ext cx="529982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Где </a:t>
            </a:r>
            <a:r>
              <a:rPr lang="ru-RU" b="1" dirty="0"/>
              <a:t>ловить локально правильно: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повторить операцию (</a:t>
            </a:r>
            <a:r>
              <a:rPr lang="ru-RU" dirty="0" err="1" smtClean="0"/>
              <a:t>retry</a:t>
            </a:r>
            <a:r>
              <a:rPr lang="ru-RU" dirty="0" smtClean="0"/>
              <a:t>) — если </a:t>
            </a:r>
            <a:r>
              <a:rPr lang="ru-RU" dirty="0"/>
              <a:t>модуль знает, что это </a:t>
            </a:r>
            <a:r>
              <a:rPr lang="ru-RU" dirty="0" smtClean="0"/>
              <a:t>безопасно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откатить </a:t>
            </a:r>
            <a:r>
              <a:rPr lang="ru-RU" dirty="0"/>
              <a:t>транзакцию локального ресурса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закрыть файл, освободить ресурс (если нет механизма RAII)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преобразовать низкоуровневую ошибку в высокоуровневую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завершить поток/задачу контролируемым образом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042211" y="4034774"/>
            <a:ext cx="540740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Когда ловить</a:t>
            </a:r>
            <a:r>
              <a:rPr lang="en-US" b="1" dirty="0" smtClean="0"/>
              <a:t> </a:t>
            </a:r>
            <a:r>
              <a:rPr lang="ru-RU" b="1" dirty="0" smtClean="0"/>
              <a:t>локально не правильно</a:t>
            </a:r>
            <a:r>
              <a:rPr lang="en-US" dirty="0" smtClean="0"/>
              <a:t>: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если </a:t>
            </a:r>
            <a:r>
              <a:rPr lang="ru-RU" dirty="0"/>
              <a:t>нет информации для восстановления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ошибка нарушает бизнес-правило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она связана с неправильными входными данными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это программный дефект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это проблема инфраструктуры (сеть, диск, БД), которую решает другой уровень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восстановление зависит от логики приложения, а не от технического </a:t>
            </a:r>
            <a:r>
              <a:rPr lang="ru-RU" dirty="0" smtClean="0"/>
              <a:t>модуля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698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Класс исключение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333474" y="1450244"/>
            <a:ext cx="736768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	Класс-исключение</a:t>
            </a:r>
            <a:r>
              <a:rPr lang="ru-RU" dirty="0"/>
              <a:t> — это обычный класс, который выбрасывается в качестве исключения.</a:t>
            </a:r>
            <a:endParaRPr lang="en-US" dirty="0"/>
          </a:p>
          <a:p>
            <a:r>
              <a:rPr lang="ru-RU" dirty="0"/>
              <a:t>	Обратите внимание, в обработчиках исключений объекты класса-исключения принимать нужно </a:t>
            </a:r>
            <a:r>
              <a:rPr lang="ru-RU" b="1" dirty="0"/>
              <a:t>по ссылке</a:t>
            </a:r>
            <a:r>
              <a:rPr lang="ru-RU" dirty="0"/>
              <a:t>, </a:t>
            </a:r>
            <a:r>
              <a:rPr lang="ru-RU" dirty="0" smtClean="0"/>
              <a:t>для корректной работы.</a:t>
            </a:r>
            <a:endParaRPr lang="en-US" dirty="0"/>
          </a:p>
          <a:p>
            <a:r>
              <a:rPr lang="ru-RU" dirty="0"/>
              <a:t>	Обработчики могут обрабатывать исключения не только одного определённого класса, но и исключения дочерних ему </a:t>
            </a:r>
            <a:r>
              <a:rPr lang="ru-RU" dirty="0" smtClean="0"/>
              <a:t>классов.</a:t>
            </a:r>
            <a:endParaRPr lang="ru-RU" b="1" dirty="0"/>
          </a:p>
          <a:p>
            <a:r>
              <a:rPr lang="ru-RU" b="1" dirty="0" smtClean="0"/>
              <a:t>	</a:t>
            </a:r>
            <a:r>
              <a:rPr lang="ru-RU" b="1" dirty="0" err="1" smtClean="0"/>
              <a:t>std</a:t>
            </a:r>
            <a:r>
              <a:rPr lang="ru-RU" b="1" dirty="0"/>
              <a:t>::</a:t>
            </a:r>
            <a:r>
              <a:rPr lang="ru-RU" b="1" dirty="0" err="1"/>
              <a:t>exception</a:t>
            </a:r>
            <a:r>
              <a:rPr lang="ru-RU" b="1" dirty="0"/>
              <a:t> </a:t>
            </a:r>
            <a:r>
              <a:rPr lang="ru-RU" dirty="0"/>
              <a:t>— это небольшой интерфейсный класс, который используется в качестве родительского класса для любого исключения, которое выбрасывается в стандартной библиотеке C++.</a:t>
            </a:r>
          </a:p>
          <a:p>
            <a:r>
              <a:rPr lang="ru-RU" dirty="0"/>
              <a:t>	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17" y="1489866"/>
            <a:ext cx="3484405" cy="44678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333474" y="3954168"/>
            <a:ext cx="38366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	Ничто </a:t>
            </a:r>
            <a:r>
              <a:rPr lang="ru-RU" dirty="0"/>
              <a:t>не генерирует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exception</a:t>
            </a:r>
            <a:r>
              <a:rPr lang="ru-RU" dirty="0"/>
              <a:t> напрямую, и вы также должны придерживаться этого правила. Однако, вы можете генерировать исключения других классов из стандартной библиотеки С++, если они адекватно отражают ваши потребности.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0"/>
          <a:stretch/>
        </p:blipFill>
        <p:spPr>
          <a:xfrm>
            <a:off x="8093520" y="4003413"/>
            <a:ext cx="3495728" cy="235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0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2771114" y="1119944"/>
            <a:ext cx="6649772" cy="5601534"/>
            <a:chOff x="2771115" y="74351"/>
            <a:chExt cx="6649772" cy="5601534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2771115" y="4321668"/>
              <a:ext cx="6649772" cy="1354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divideBy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what, 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by){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(by == </a:t>
              </a:r>
              <a:r>
                <a:rPr lang="en-US" sz="16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throw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DivisionByZeroException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what / by;</a:t>
              </a:r>
            </a:p>
            <a:p>
              <a:r>
                <a:rPr lang="en-US" sz="16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2771115" y="74351"/>
              <a:ext cx="6649772" cy="38779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class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DivisionByZeroException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: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exception{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private: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msg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6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"Division by 0"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code = -</a:t>
              </a:r>
              <a:r>
                <a:rPr lang="en-US" sz="16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10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public: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printSelf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(){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   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what() &lt;&lt;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}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getCode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(){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code;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}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6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char*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what() {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    </a:t>
              </a: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6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msg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} 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  <a:endPara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264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24693" y="1164134"/>
            <a:ext cx="853741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a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b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c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"Start with divide by zero."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"Before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divideBy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(b, a);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"After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(exception e) 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ru-RU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e.what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DivisionByZeroException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e)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e.printSelf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e.getCode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(...){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"Any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"End with divide by zero. c value is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c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466903" y="2973603"/>
            <a:ext cx="4122345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Start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divide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zero</a:t>
            </a:r>
            <a:r>
              <a:rPr lang="ru-RU" dirty="0"/>
              <a:t>.</a:t>
            </a:r>
          </a:p>
          <a:p>
            <a:r>
              <a:rPr lang="ru-RU" dirty="0" err="1"/>
              <a:t>Before</a:t>
            </a:r>
            <a:r>
              <a:rPr lang="ru-RU" dirty="0"/>
              <a:t> </a:t>
            </a:r>
            <a:r>
              <a:rPr lang="ru-RU" dirty="0" err="1"/>
              <a:t>exception</a:t>
            </a:r>
            <a:r>
              <a:rPr lang="ru-RU" dirty="0"/>
              <a:t>.</a:t>
            </a:r>
          </a:p>
          <a:p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exception</a:t>
            </a:r>
            <a:endParaRPr lang="ru-RU" dirty="0"/>
          </a:p>
          <a:p>
            <a:r>
              <a:rPr lang="ru-RU" dirty="0" err="1"/>
              <a:t>End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divide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zero</a:t>
            </a:r>
            <a:r>
              <a:rPr lang="ru-RU" dirty="0"/>
              <a:t>. c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94918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11525" y="1215580"/>
            <a:ext cx="876375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a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b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c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"Start with divide by zero."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"Before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divideBy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(b, a);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"After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DivisionByZeroException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e)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e.printSelf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e.getCode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(exception e)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e.what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(...){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"Any exception."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"End with divide by zero. c value is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c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113818" y="2999326"/>
            <a:ext cx="447543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Start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divide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zero</a:t>
            </a:r>
            <a:r>
              <a:rPr lang="ru-RU" dirty="0"/>
              <a:t>.</a:t>
            </a:r>
          </a:p>
          <a:p>
            <a:r>
              <a:rPr lang="ru-RU" dirty="0" err="1"/>
              <a:t>Before</a:t>
            </a:r>
            <a:r>
              <a:rPr lang="ru-RU" dirty="0"/>
              <a:t> </a:t>
            </a:r>
            <a:r>
              <a:rPr lang="ru-RU" dirty="0" err="1"/>
              <a:t>exception</a:t>
            </a:r>
            <a:r>
              <a:rPr lang="ru-RU" dirty="0"/>
              <a:t>.</a:t>
            </a:r>
          </a:p>
          <a:p>
            <a:r>
              <a:rPr lang="ru-RU" dirty="0" err="1"/>
              <a:t>Division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0</a:t>
            </a:r>
          </a:p>
          <a:p>
            <a:r>
              <a:rPr lang="ru-RU" dirty="0" err="1"/>
              <a:t>End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divide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zero</a:t>
            </a:r>
            <a:r>
              <a:rPr lang="ru-RU" dirty="0"/>
              <a:t>. c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-10</a:t>
            </a:r>
          </a:p>
        </p:txBody>
      </p:sp>
    </p:spTree>
    <p:extLst>
      <p:ext uri="{BB962C8B-B14F-4D97-AF65-F5344CB8AC3E}">
        <p14:creationId xmlns:p14="http://schemas.microsoft.com/office/powerpoint/2010/main" val="198637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Производительность исключений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60491" y="1437778"/>
            <a:ext cx="1067101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</a:t>
            </a:r>
            <a:r>
              <a:rPr lang="ru-RU" b="1" dirty="0"/>
              <a:t>Исключения имеют </a:t>
            </a:r>
            <a:r>
              <a:rPr lang="ru-RU" b="1" dirty="0" smtClean="0"/>
              <a:t>свои накладные расходы</a:t>
            </a:r>
            <a:r>
              <a:rPr lang="ru-RU" dirty="0" smtClean="0"/>
              <a:t>. </a:t>
            </a:r>
            <a:r>
              <a:rPr lang="ru-RU" dirty="0"/>
              <a:t>Они увеличивают размер вашего исполняемого файла и также могут заставить его выполняться медленнее из-за дополнительной проверки, которая должна быть выполнена. Тем не менее, основное снижение производительности происходит при выбрасывании исключения. В этот момент стек начинает раскручиваться и выполняется поиск соответствующего обработчика исключений, что само по себе является относительно затратной операцией.</a:t>
            </a:r>
          </a:p>
          <a:p>
            <a:r>
              <a:rPr lang="ru-RU" dirty="0"/>
              <a:t>	Примечание: Некоторые современные компьютерные архитектуры поддерживают модель исключений «</a:t>
            </a:r>
            <a:r>
              <a:rPr lang="ru-RU" b="1" dirty="0"/>
              <a:t>Исключения с нулевой стоимостью</a:t>
            </a:r>
            <a:r>
              <a:rPr lang="ru-RU" dirty="0"/>
              <a:t>» (</a:t>
            </a:r>
            <a:r>
              <a:rPr lang="ru-RU" dirty="0" err="1"/>
              <a:t>zero-cost</a:t>
            </a:r>
            <a:r>
              <a:rPr lang="ru-RU" dirty="0"/>
              <a:t> исключения). Исключения с нулевой стоимостью, если они поддерживаются, </a:t>
            </a:r>
            <a:r>
              <a:rPr lang="ru-RU" b="1" dirty="0"/>
              <a:t>не требуют дополнительных затрат при выполнении программы</a:t>
            </a:r>
            <a:r>
              <a:rPr lang="ru-RU" dirty="0"/>
              <a:t> в случае отсутствия ошибок (именно в этом случае мы больше всего заботимся о производительности). Тем не менее, исключения с нулевой стоимостью </a:t>
            </a:r>
            <a:r>
              <a:rPr lang="ru-RU" b="1" dirty="0"/>
              <a:t>потребляют ещё больше ресурсов в случае обнаружения исключения</a:t>
            </a:r>
            <a:r>
              <a:rPr lang="ru-RU" dirty="0"/>
              <a:t>.</a:t>
            </a:r>
          </a:p>
          <a:p>
            <a:r>
              <a:rPr lang="ru-RU" dirty="0"/>
              <a:t>	Исключения и их обработку лучше всего использовать, если выполняются все следующие условия: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Обрабатываемая ошибка возникает редко.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Ошибка является серьёзной, и выполнение программы не может продолжаться без её обработки.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Ошибка не может быть обработана в том месте, где она возникает.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Нет хорошего альтернативного способа возвратить код ошибки обратно в </a:t>
            </a:r>
            <a:r>
              <a:rPr lang="ru-RU" dirty="0" err="1"/>
              <a:t>caller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182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ASSERT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60491" y="1437778"/>
            <a:ext cx="1067101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</a:t>
            </a:r>
            <a:r>
              <a:rPr lang="ru-RU" b="1" dirty="0" smtClean="0"/>
              <a:t>Исключения тесно связаны с тестированием программы после любых изменений вносимых в программу</a:t>
            </a:r>
            <a:r>
              <a:rPr lang="ru-RU" dirty="0" smtClean="0"/>
              <a:t>. Для модульного тестирования в С++ существуют такие Фреймворки как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Google Test – </a:t>
            </a:r>
            <a:r>
              <a:rPr lang="ru-RU" dirty="0" smtClean="0"/>
              <a:t>библиотека для модульного тестирования от </a:t>
            </a:r>
            <a:r>
              <a:rPr lang="en-US" dirty="0" smtClean="0"/>
              <a:t>Google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Boost Test – </a:t>
            </a:r>
            <a:r>
              <a:rPr lang="ru-RU" dirty="0" smtClean="0"/>
              <a:t>библиотека для модульного тестирования от создателей библиотеки </a:t>
            </a:r>
            <a:r>
              <a:rPr lang="en-US" dirty="0" smtClean="0"/>
              <a:t>boost </a:t>
            </a:r>
            <a:r>
              <a:rPr lang="ru-RU" dirty="0" smtClean="0"/>
              <a:t>и входящая в нее.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Q</a:t>
            </a:r>
            <a:r>
              <a:rPr lang="en-US" dirty="0" err="1"/>
              <a:t>t</a:t>
            </a:r>
            <a:r>
              <a:rPr lang="en-US" dirty="0" smtClean="0"/>
              <a:t> </a:t>
            </a:r>
            <a:r>
              <a:rPr lang="en-US" dirty="0" smtClean="0"/>
              <a:t>Test</a:t>
            </a:r>
            <a:r>
              <a:rPr lang="ru-RU" dirty="0" smtClean="0"/>
              <a:t> – библиотека для модульного тестирования от создателей библиотеки </a:t>
            </a:r>
            <a:r>
              <a:rPr lang="en-US" dirty="0" smtClean="0"/>
              <a:t>QT </a:t>
            </a:r>
            <a:r>
              <a:rPr lang="ru-RU" dirty="0" smtClean="0"/>
              <a:t>и входящая в нее.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Doctest</a:t>
            </a:r>
            <a:r>
              <a:rPr lang="ru-RU" dirty="0" smtClean="0"/>
              <a:t> – простая и легковесная библиотека для написания модульных тестов в небольших проектах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Catch2</a:t>
            </a:r>
            <a:r>
              <a:rPr lang="ru-RU" dirty="0"/>
              <a:t> – простая и легковесная библиотека для написания модульных тестов в небольших проектах</a:t>
            </a:r>
          </a:p>
          <a:p>
            <a:r>
              <a:rPr lang="ru-RU" dirty="0"/>
              <a:t>	</a:t>
            </a:r>
            <a:r>
              <a:rPr lang="ru-RU" dirty="0" smtClean="0"/>
              <a:t>Кроме описанных выше библиотек существует встроенный в стандартную библиотеку способ тестирования кода.</a:t>
            </a:r>
            <a:endParaRPr lang="en-US" dirty="0" smtClean="0"/>
          </a:p>
          <a:p>
            <a:r>
              <a:rPr lang="ru-RU" dirty="0" smtClean="0"/>
              <a:t>Один это макрос </a:t>
            </a:r>
            <a:r>
              <a:rPr lang="en-US" dirty="0" smtClean="0"/>
              <a:t>ASSERT</a:t>
            </a:r>
            <a:r>
              <a:rPr lang="ru-RU" dirty="0" smtClean="0"/>
              <a:t>(), который наследуется из языка си и импортируется как библиотека </a:t>
            </a:r>
            <a:r>
              <a:rPr lang="en-US" dirty="0"/>
              <a:t>&lt;</a:t>
            </a:r>
            <a:r>
              <a:rPr lang="en-US" dirty="0" err="1" smtClean="0"/>
              <a:t>cassert</a:t>
            </a:r>
            <a:r>
              <a:rPr lang="en-US" dirty="0" smtClean="0"/>
              <a:t>&gt;</a:t>
            </a:r>
            <a:r>
              <a:rPr lang="ru-RU" dirty="0" smtClean="0"/>
              <a:t>.</a:t>
            </a:r>
          </a:p>
          <a:p>
            <a:r>
              <a:rPr lang="ru-RU" dirty="0" smtClean="0"/>
              <a:t>Этот макрос выведет ошибку, если выражение между круглыми скобками будет равно 0.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Альтернативой является функция времени компиляции </a:t>
            </a:r>
            <a:r>
              <a:rPr lang="en-US" dirty="0" err="1" smtClean="0"/>
              <a:t>static_assert</a:t>
            </a:r>
            <a:r>
              <a:rPr lang="en-US" dirty="0" smtClean="0"/>
              <a:t>(bool-</a:t>
            </a:r>
            <a:r>
              <a:rPr lang="en-US" dirty="0" err="1" smtClean="0"/>
              <a:t>constexpr</a:t>
            </a:r>
            <a:r>
              <a:rPr lang="en-US" dirty="0" smtClean="0"/>
              <a:t>)</a:t>
            </a:r>
            <a:r>
              <a:rPr lang="ru-RU" dirty="0" smtClean="0"/>
              <a:t>, которая так же, как и макрос выведет в консоль ошибку, если выражение в скобках возвращает </a:t>
            </a:r>
            <a:r>
              <a:rPr lang="en-US" dirty="0" smtClean="0"/>
              <a:t>false</a:t>
            </a:r>
            <a:r>
              <a:rPr lang="ru-RU" dirty="0" smtClean="0"/>
              <a:t>.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128567" y="4915653"/>
            <a:ext cx="793486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assertm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4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2==5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There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are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five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lights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")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9090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909090"/>
                </a:solidFill>
                <a:effectLst/>
                <a:latin typeface="Courier New" panose="02070309020205020404" pitchFamily="49" charset="0"/>
              </a:rPr>
              <a:t>assertion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90909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909090"/>
                </a:solidFill>
                <a:effectLst/>
                <a:latin typeface="Courier New" panose="02070309020205020404" pitchFamily="49" charset="0"/>
              </a:rPr>
              <a:t>fails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3080"/>
                </a:solidFill>
                <a:effectLst/>
                <a:latin typeface="Courier New" panose="02070309020205020404" pitchFamily="49" charset="0"/>
                <a:hlinkClick r:id="rId4"/>
              </a:rPr>
              <a:t>std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3080"/>
                </a:solidFill>
                <a:effectLst/>
                <a:latin typeface="Courier New" panose="02070309020205020404" pitchFamily="49" charset="0"/>
                <a:hlinkClick r:id="rId4"/>
              </a:rPr>
              <a:t>::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3080"/>
                </a:solidFill>
                <a:effectLst/>
                <a:latin typeface="Courier New" panose="02070309020205020404" pitchFamily="49" charset="0"/>
                <a:hlinkClick r:id="rId4"/>
              </a:rPr>
              <a:t>cout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&lt;&lt;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Execution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continues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past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last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assert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\n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9090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909090"/>
                </a:solidFill>
                <a:effectLst/>
                <a:latin typeface="Courier New" panose="02070309020205020404" pitchFamily="49" charset="0"/>
              </a:rPr>
              <a:t>No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97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23331" y="3149823"/>
            <a:ext cx="4545339" cy="558354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91953" cy="300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2915</TotalTime>
  <Words>1742</Words>
  <Application>Microsoft Office PowerPoint</Application>
  <PresentationFormat>Широкоэкранный</PresentationFormat>
  <Paragraphs>466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Пысин Максим Дмитриевич</cp:lastModifiedBy>
  <cp:revision>406</cp:revision>
  <dcterms:created xsi:type="dcterms:W3CDTF">2018-10-31T17:08:02Z</dcterms:created>
  <dcterms:modified xsi:type="dcterms:W3CDTF">2025-11-17T01:56:58Z</dcterms:modified>
</cp:coreProperties>
</file>