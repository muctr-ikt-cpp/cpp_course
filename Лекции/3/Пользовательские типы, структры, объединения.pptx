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319" r:id="rId3"/>
    <p:sldId id="334" r:id="rId4"/>
    <p:sldId id="353" r:id="rId5"/>
    <p:sldId id="335" r:id="rId6"/>
    <p:sldId id="336" r:id="rId7"/>
    <p:sldId id="337" r:id="rId8"/>
    <p:sldId id="338" r:id="rId9"/>
    <p:sldId id="339" r:id="rId10"/>
    <p:sldId id="340" r:id="rId11"/>
    <p:sldId id="356" r:id="rId12"/>
    <p:sldId id="357" r:id="rId13"/>
    <p:sldId id="341" r:id="rId14"/>
    <p:sldId id="342" r:id="rId15"/>
    <p:sldId id="343" r:id="rId16"/>
    <p:sldId id="346" r:id="rId17"/>
    <p:sldId id="358" r:id="rId18"/>
    <p:sldId id="359" r:id="rId19"/>
    <p:sldId id="344" r:id="rId20"/>
    <p:sldId id="360" r:id="rId21"/>
    <p:sldId id="345" r:id="rId22"/>
    <p:sldId id="347" r:id="rId23"/>
    <p:sldId id="348" r:id="rId24"/>
    <p:sldId id="349" r:id="rId25"/>
    <p:sldId id="351" r:id="rId26"/>
    <p:sldId id="352" r:id="rId27"/>
    <p:sldId id="261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5" autoAdjust="0"/>
    <p:restoredTop sz="96056" autoAdjust="0"/>
  </p:normalViewPr>
  <p:slideViewPr>
    <p:cSldViewPr snapToGrid="0">
      <p:cViewPr varScale="1">
        <p:scale>
          <a:sx n="107" d="100"/>
          <a:sy n="107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C11EB-D329-41AC-A27B-AABF4C979710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F6E2-0908-4D29-8778-2BC2E0C33B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0826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C11EB-D329-41AC-A27B-AABF4C979710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F6E2-0908-4D29-8778-2BC2E0C33B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6106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C11EB-D329-41AC-A27B-AABF4C979710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F6E2-0908-4D29-8778-2BC2E0C33B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6539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C11EB-D329-41AC-A27B-AABF4C979710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F6E2-0908-4D29-8778-2BC2E0C33B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9931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C11EB-D329-41AC-A27B-AABF4C979710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F6E2-0908-4D29-8778-2BC2E0C33B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3317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C11EB-D329-41AC-A27B-AABF4C979710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F6E2-0908-4D29-8778-2BC2E0C33B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2547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C11EB-D329-41AC-A27B-AABF4C979710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F6E2-0908-4D29-8778-2BC2E0C33B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2062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C11EB-D329-41AC-A27B-AABF4C979710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F6E2-0908-4D29-8778-2BC2E0C33B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4683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C11EB-D329-41AC-A27B-AABF4C979710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F6E2-0908-4D29-8778-2BC2E0C33B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9085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C11EB-D329-41AC-A27B-AABF4C979710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F6E2-0908-4D29-8778-2BC2E0C33B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1409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C11EB-D329-41AC-A27B-AABF4C979710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F6E2-0908-4D29-8778-2BC2E0C33B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1768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5C11EB-D329-41AC-A27B-AABF4C979710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2F6E2-0908-4D29-8778-2BC2E0C33B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6760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62724" y="595533"/>
            <a:ext cx="6160140" cy="558354"/>
          </a:xfrm>
          <a:prstGeom prst="rect">
            <a:avLst/>
          </a:prstGeom>
          <a:noFill/>
        </p:spPr>
        <p:txBody>
          <a:bodyPr wrap="none" lIns="65274" tIns="32637" rIns="65274" bIns="32637" rtlCol="0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Язык программирования С++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724" y="4747827"/>
            <a:ext cx="9785235" cy="1543239"/>
          </a:xfrm>
          <a:prstGeom prst="rect">
            <a:avLst/>
          </a:prstGeom>
          <a:noFill/>
        </p:spPr>
        <p:txBody>
          <a:bodyPr wrap="none" lIns="65274" tIns="32637" rIns="65274" bIns="32637" rtlCol="0">
            <a:spAutoFit/>
          </a:bodyPr>
          <a:lstStyle>
            <a:defPPr>
              <a:defRPr lang="ru-RU"/>
            </a:defPPr>
            <a:lvl1pPr>
              <a:defRPr sz="2300">
                <a:solidFill>
                  <a:schemeClr val="bg1"/>
                </a:solidFill>
                <a:latin typeface="Gilroy" pitchFamily="50" charset="-52"/>
              </a:defRPr>
            </a:lvl1pPr>
          </a:lstStyle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Преподаватели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Пысин Максим Дмитриевич, старший преподаватель кафедры ИКТ</a:t>
            </a: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Лобанов Алексей Владимирович, ассистент кафедры ИКТ</a:t>
            </a: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Крашенинников Роман Сергеевич, ассистент кафедры ИКТ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9521" y="2357299"/>
            <a:ext cx="9432959" cy="2143403"/>
          </a:xfrm>
          <a:prstGeom prst="rect">
            <a:avLst/>
          </a:prstGeom>
          <a:noFill/>
        </p:spPr>
        <p:txBody>
          <a:bodyPr wrap="none" lIns="65274" tIns="32637" rIns="65274" bIns="32637" rtlCol="0">
            <a:spAutoFit/>
          </a:bodyPr>
          <a:lstStyle/>
          <a:p>
            <a:pPr algn="ctr"/>
            <a:r>
              <a:rPr lang="ru-RU" sz="4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Файловая структура, </a:t>
            </a:r>
          </a:p>
          <a:p>
            <a:pPr algn="ctr"/>
            <a:r>
              <a:rPr lang="ru-RU" sz="4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пользовательские типы данных</a:t>
            </a:r>
          </a:p>
          <a:p>
            <a:pPr algn="ctr"/>
            <a:r>
              <a:rPr lang="ru-RU" sz="4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немного функций</a:t>
            </a:r>
          </a:p>
        </p:txBody>
      </p:sp>
    </p:spTree>
    <p:extLst>
      <p:ext uri="{BB962C8B-B14F-4D97-AF65-F5344CB8AC3E}">
        <p14:creationId xmlns:p14="http://schemas.microsoft.com/office/powerpoint/2010/main" val="2539482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What Are You studying ? C++ - Programming - quickmem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187"/>
          <a:stretch/>
        </p:blipFill>
        <p:spPr bwMode="auto">
          <a:xfrm>
            <a:off x="6228785" y="3957640"/>
            <a:ext cx="5963216" cy="290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What Are You studying ? C++ - Programming - quickmem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931" b="35973"/>
          <a:stretch/>
        </p:blipFill>
        <p:spPr bwMode="auto">
          <a:xfrm>
            <a:off x="2281755" y="2172830"/>
            <a:ext cx="7061139" cy="2598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What Are You studying ? C++ - Programming - quickmem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908"/>
          <a:stretch/>
        </p:blipFill>
        <p:spPr bwMode="auto">
          <a:xfrm>
            <a:off x="0" y="-1"/>
            <a:ext cx="5812325" cy="2927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572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Файловая структура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563" y="3055915"/>
            <a:ext cx="1362075" cy="895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9121" y="2686583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Файлы</a:t>
            </a:r>
            <a:r>
              <a:rPr lang="en-US" dirty="0"/>
              <a:t>:</a:t>
            </a:r>
            <a:endParaRPr lang="ru-RU" dirty="0"/>
          </a:p>
        </p:txBody>
      </p:sp>
      <p:grpSp>
        <p:nvGrpSpPr>
          <p:cNvPr id="14" name="Группа 13"/>
          <p:cNvGrpSpPr/>
          <p:nvPr/>
        </p:nvGrpSpPr>
        <p:grpSpPr>
          <a:xfrm>
            <a:off x="2687134" y="3689074"/>
            <a:ext cx="6817733" cy="2400657"/>
            <a:chOff x="2545687" y="3689074"/>
            <a:chExt cx="6817733" cy="2400657"/>
          </a:xfrm>
        </p:grpSpPr>
        <p:grpSp>
          <p:nvGrpSpPr>
            <p:cNvPr id="15" name="Группа 14"/>
            <p:cNvGrpSpPr/>
            <p:nvPr/>
          </p:nvGrpSpPr>
          <p:grpSpPr>
            <a:xfrm>
              <a:off x="2545687" y="3689074"/>
              <a:ext cx="3404102" cy="2400100"/>
              <a:chOff x="6461156" y="3487033"/>
              <a:chExt cx="3404102" cy="2400100"/>
            </a:xfrm>
          </p:grpSpPr>
          <p:sp>
            <p:nvSpPr>
              <p:cNvPr id="19" name="Прямоугольник 18"/>
              <p:cNvSpPr/>
              <p:nvPr/>
            </p:nvSpPr>
            <p:spPr>
              <a:xfrm>
                <a:off x="6461156" y="3855808"/>
                <a:ext cx="3404102" cy="203132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14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#include </a:t>
                </a:r>
                <a:r>
                  <a:rPr lang="en-US" sz="1400" dirty="0">
                    <a:solidFill>
                      <a:srgbClr val="A31515"/>
                    </a:solidFill>
                    <a:latin typeface="Consolas" panose="020B0609020204030204" pitchFamily="49" charset="0"/>
                  </a:rPr>
                  <a:t>"</a:t>
                </a:r>
                <a:r>
                  <a:rPr lang="en-US" sz="1400" dirty="0" err="1">
                    <a:solidFill>
                      <a:srgbClr val="A31515"/>
                    </a:solidFill>
                    <a:latin typeface="Consolas" panose="020B0609020204030204" pitchFamily="49" charset="0"/>
                  </a:rPr>
                  <a:t>utils.h</a:t>
                </a:r>
                <a:r>
                  <a:rPr lang="en-US" sz="1400" dirty="0">
                    <a:solidFill>
                      <a:srgbClr val="A31515"/>
                    </a:solidFill>
                    <a:latin typeface="Consolas" panose="020B0609020204030204" pitchFamily="49" charset="0"/>
                  </a:rPr>
                  <a:t>"</a:t>
                </a:r>
                <a:endParaRPr lang="en-US" sz="140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/>
                </a:r>
                <a:b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</a:br>
                <a:r>
                  <a:rPr lang="en-US" sz="1400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std</a:t>
                </a:r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::string hello(){</a:t>
                </a:r>
              </a:p>
              <a:p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   </a:t>
                </a:r>
                <a:r>
                  <a:rPr lang="en-US" sz="14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return</a:t>
                </a:r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en-US" sz="1400" dirty="0">
                    <a:solidFill>
                      <a:srgbClr val="A31515"/>
                    </a:solidFill>
                    <a:latin typeface="Consolas" panose="020B0609020204030204" pitchFamily="49" charset="0"/>
                  </a:rPr>
                  <a:t>"hello"</a:t>
                </a:r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;</a:t>
                </a:r>
              </a:p>
              <a:p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}</a:t>
                </a:r>
              </a:p>
              <a:p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/>
                </a:r>
                <a:b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</a:br>
                <a:r>
                  <a:rPr lang="en-US" sz="1400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std</a:t>
                </a:r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::string world(){</a:t>
                </a:r>
              </a:p>
              <a:p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   </a:t>
                </a:r>
                <a:r>
                  <a:rPr lang="en-US" sz="14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return</a:t>
                </a:r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en-US" sz="1400" dirty="0">
                    <a:solidFill>
                      <a:srgbClr val="A31515"/>
                    </a:solidFill>
                    <a:latin typeface="Consolas" panose="020B0609020204030204" pitchFamily="49" charset="0"/>
                  </a:rPr>
                  <a:t>"world"</a:t>
                </a:r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;</a:t>
                </a:r>
              </a:p>
              <a:p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}</a:t>
                </a:r>
                <a:endPara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6461156" y="3487033"/>
                <a:ext cx="10406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utils.cpp:</a:t>
                </a:r>
                <a:endParaRPr lang="ru-RU" dirty="0"/>
              </a:p>
            </p:txBody>
          </p:sp>
        </p:grpSp>
        <p:grpSp>
          <p:nvGrpSpPr>
            <p:cNvPr id="16" name="Группа 15"/>
            <p:cNvGrpSpPr/>
            <p:nvPr/>
          </p:nvGrpSpPr>
          <p:grpSpPr>
            <a:xfrm>
              <a:off x="5959318" y="3689074"/>
              <a:ext cx="3404102" cy="2400657"/>
              <a:chOff x="549244" y="3761466"/>
              <a:chExt cx="3404102" cy="2400657"/>
            </a:xfrm>
          </p:grpSpPr>
          <p:sp>
            <p:nvSpPr>
              <p:cNvPr id="17" name="Прямоугольник 16"/>
              <p:cNvSpPr/>
              <p:nvPr/>
            </p:nvSpPr>
            <p:spPr>
              <a:xfrm>
                <a:off x="549244" y="4130798"/>
                <a:ext cx="3404102" cy="203132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14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#</a:t>
                </a:r>
                <a:r>
                  <a:rPr lang="en-US" sz="1400" dirty="0" err="1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ifndef</a:t>
                </a:r>
                <a:r>
                  <a:rPr lang="en-US" sz="14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 UTILS_H_EXAMPLES</a:t>
                </a:r>
                <a:endParaRPr lang="en-US" sz="140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4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#define UTILS_H_EXAMPLES</a:t>
                </a:r>
              </a:p>
              <a:p>
                <a:endParaRPr lang="en-US" sz="140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4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#include </a:t>
                </a:r>
                <a:r>
                  <a:rPr lang="en-US" sz="1400" dirty="0">
                    <a:solidFill>
                      <a:srgbClr val="A31515"/>
                    </a:solidFill>
                    <a:latin typeface="Consolas" panose="020B0609020204030204" pitchFamily="49" charset="0"/>
                  </a:rPr>
                  <a:t>&lt;string&gt;</a:t>
                </a:r>
                <a:endParaRPr lang="en-US" sz="140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/>
                </a:r>
                <a:b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</a:br>
                <a:r>
                  <a:rPr lang="en-US" sz="1400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std</a:t>
                </a:r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::string hello();</a:t>
                </a:r>
              </a:p>
              <a:p>
                <a:r>
                  <a:rPr lang="en-US" sz="1400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std</a:t>
                </a:r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::string world();</a:t>
                </a:r>
              </a:p>
              <a:p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/>
                </a:r>
                <a:b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</a:br>
                <a:r>
                  <a:rPr lang="en-US" sz="14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#</a:t>
                </a:r>
                <a:r>
                  <a:rPr lang="en-US" sz="1400" dirty="0" err="1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endif</a:t>
                </a:r>
                <a:endPara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endParaRP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549244" y="3761466"/>
                <a:ext cx="8210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utils.h</a:t>
                </a:r>
                <a:r>
                  <a:rPr lang="en-US" dirty="0"/>
                  <a:t>:</a:t>
                </a:r>
                <a:endParaRPr lang="ru-RU" dirty="0"/>
              </a:p>
            </p:txBody>
          </p:sp>
        </p:grpSp>
      </p:grpSp>
      <p:cxnSp>
        <p:nvCxnSpPr>
          <p:cNvPr id="21" name="Прямая со стрелкой 20"/>
          <p:cNvCxnSpPr>
            <a:stCxn id="22" idx="2"/>
          </p:cNvCxnSpPr>
          <p:nvPr/>
        </p:nvCxnSpPr>
        <p:spPr>
          <a:xfrm flipH="1">
            <a:off x="9294785" y="3689074"/>
            <a:ext cx="1506167" cy="574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523925" y="1380750"/>
            <a:ext cx="25540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Флаги защиты компиляции</a:t>
            </a:r>
          </a:p>
          <a:p>
            <a:r>
              <a:rPr lang="ru-RU" sz="1600" dirty="0"/>
              <a:t>На самом деле условное выражение препроцессора проверяющий был ли выполнен </a:t>
            </a:r>
            <a:r>
              <a:rPr lang="en-US" sz="1600" dirty="0"/>
              <a:t>define </a:t>
            </a:r>
            <a:r>
              <a:rPr lang="ru-RU" sz="1600" dirty="0"/>
              <a:t>макроса с именем, и если нет, то делает код, который находиться внутри него доступным компилятору.</a:t>
            </a:r>
          </a:p>
        </p:txBody>
      </p:sp>
      <p:grpSp>
        <p:nvGrpSpPr>
          <p:cNvPr id="23" name="Группа 22"/>
          <p:cNvGrpSpPr/>
          <p:nvPr/>
        </p:nvGrpSpPr>
        <p:grpSpPr>
          <a:xfrm>
            <a:off x="3035818" y="1156960"/>
            <a:ext cx="6096000" cy="2611220"/>
            <a:chOff x="3292443" y="632159"/>
            <a:chExt cx="6096000" cy="2611220"/>
          </a:xfrm>
        </p:grpSpPr>
        <p:sp>
          <p:nvSpPr>
            <p:cNvPr id="24" name="Прямоугольник 23"/>
            <p:cNvSpPr/>
            <p:nvPr/>
          </p:nvSpPr>
          <p:spPr>
            <a:xfrm>
              <a:off x="3292443" y="996610"/>
              <a:ext cx="6096000" cy="224676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#include 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&lt;</a:t>
              </a:r>
              <a:r>
                <a:rPr lang="en-US" sz="1400" dirty="0" err="1">
                  <a:solidFill>
                    <a:srgbClr val="A31515"/>
                  </a:solidFill>
                  <a:latin typeface="Consolas" panose="020B0609020204030204" pitchFamily="49" charset="0"/>
                </a:rPr>
                <a:t>iostream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&gt;</a:t>
              </a:r>
              <a:endParaRPr lang="en-US" sz="14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#include 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</a:t>
              </a:r>
              <a:r>
                <a:rPr lang="en-US" sz="1400" dirty="0" err="1">
                  <a:solidFill>
                    <a:srgbClr val="A31515"/>
                  </a:solidFill>
                  <a:latin typeface="Consolas" panose="020B0609020204030204" pitchFamily="49" charset="0"/>
                </a:rPr>
                <a:t>utils.h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“</a:t>
              </a:r>
            </a:p>
            <a:p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#include 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&lt;string&gt;</a:t>
              </a:r>
              <a:endParaRPr lang="en-US" sz="14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/>
              </a:r>
              <a:b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</a:br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using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namespace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std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/>
              </a:r>
              <a:b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</a:br>
              <a:r>
                <a:rPr lang="en-US" sz="14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main(){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cout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hello() &lt;&lt; 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 '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world() &lt;&lt;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endl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return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0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  <a:endPara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292443" y="632159"/>
              <a:ext cx="11160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main.cpp:</a:t>
              </a:r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119077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Файловая структура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8159" y="2177803"/>
            <a:ext cx="4953000" cy="343852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417" y="1547249"/>
            <a:ext cx="5534025" cy="45815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33483" y="1912093"/>
            <a:ext cx="2697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Библиотеки компилятора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33483" y="2703652"/>
            <a:ext cx="1572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Исходный код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33483" y="3072984"/>
            <a:ext cx="3579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Библиотеки других разработчиков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33483" y="5366170"/>
            <a:ext cx="733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Тесты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33483" y="5759442"/>
            <a:ext cx="1617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Документация</a:t>
            </a:r>
          </a:p>
        </p:txBody>
      </p:sp>
    </p:spTree>
    <p:extLst>
      <p:ext uri="{BB962C8B-B14F-4D97-AF65-F5344CB8AC3E}">
        <p14:creationId xmlns:p14="http://schemas.microsoft.com/office/powerpoint/2010/main" val="1789938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Команда компиляции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9" name="Скругленный прямоугольник 8"/>
          <p:cNvSpPr/>
          <p:nvPr/>
        </p:nvSpPr>
        <p:spPr>
          <a:xfrm>
            <a:off x="4982157" y="5542854"/>
            <a:ext cx="2281473" cy="2897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Линковщик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3756" y="1917187"/>
            <a:ext cx="35382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Команда компиляции</a:t>
            </a:r>
            <a:r>
              <a:rPr lang="en-US" dirty="0"/>
              <a:t>:</a:t>
            </a:r>
          </a:p>
          <a:p>
            <a:r>
              <a:rPr lang="en-US" dirty="0"/>
              <a:t>g++</a:t>
            </a:r>
            <a:r>
              <a:rPr lang="ru-RU" dirty="0"/>
              <a:t>  </a:t>
            </a:r>
            <a:r>
              <a:rPr lang="en-US" dirty="0"/>
              <a:t>main.cpp utils.cpp</a:t>
            </a:r>
            <a:r>
              <a:rPr lang="ru-RU" dirty="0"/>
              <a:t> </a:t>
            </a:r>
            <a:r>
              <a:rPr lang="en-US" dirty="0"/>
              <a:t>–o</a:t>
            </a:r>
            <a:r>
              <a:rPr lang="ru-RU" dirty="0"/>
              <a:t> </a:t>
            </a:r>
            <a:r>
              <a:rPr lang="en-US" dirty="0"/>
              <a:t>main.exe</a:t>
            </a:r>
          </a:p>
        </p:txBody>
      </p:sp>
      <p:cxnSp>
        <p:nvCxnSpPr>
          <p:cNvPr id="11" name="Прямая со стрелкой 10"/>
          <p:cNvCxnSpPr>
            <a:stCxn id="10" idx="2"/>
            <a:endCxn id="16" idx="0"/>
          </p:cNvCxnSpPr>
          <p:nvPr/>
        </p:nvCxnSpPr>
        <p:spPr>
          <a:xfrm flipH="1">
            <a:off x="4197510" y="2563518"/>
            <a:ext cx="1925384" cy="1043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>
            <a:stCxn id="10" idx="2"/>
            <a:endCxn id="17" idx="0"/>
          </p:cNvCxnSpPr>
          <p:nvPr/>
        </p:nvCxnSpPr>
        <p:spPr>
          <a:xfrm>
            <a:off x="6122894" y="2563518"/>
            <a:ext cx="1843903" cy="1043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Группа 12"/>
          <p:cNvGrpSpPr/>
          <p:nvPr/>
        </p:nvGrpSpPr>
        <p:grpSpPr>
          <a:xfrm>
            <a:off x="2721795" y="3607479"/>
            <a:ext cx="6802198" cy="1289932"/>
            <a:chOff x="2335793" y="2947482"/>
            <a:chExt cx="6802198" cy="1289932"/>
          </a:xfrm>
        </p:grpSpPr>
        <p:sp>
          <p:nvSpPr>
            <p:cNvPr id="14" name="Скругленный прямоугольник 13"/>
            <p:cNvSpPr/>
            <p:nvPr/>
          </p:nvSpPr>
          <p:spPr>
            <a:xfrm>
              <a:off x="2335793" y="3377335"/>
              <a:ext cx="2951430" cy="28971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Компиляция </a:t>
              </a:r>
              <a:r>
                <a:rPr lang="en-US" dirty="0"/>
                <a:t>main.cpp</a:t>
              </a:r>
              <a:endParaRPr lang="ru-RU" dirty="0"/>
            </a:p>
          </p:txBody>
        </p:sp>
        <p:grpSp>
          <p:nvGrpSpPr>
            <p:cNvPr id="15" name="Группа 14"/>
            <p:cNvGrpSpPr/>
            <p:nvPr/>
          </p:nvGrpSpPr>
          <p:grpSpPr>
            <a:xfrm>
              <a:off x="6023599" y="3377335"/>
              <a:ext cx="3114392" cy="860079"/>
              <a:chOff x="2245259" y="2480650"/>
              <a:chExt cx="3114392" cy="860079"/>
            </a:xfrm>
          </p:grpSpPr>
          <p:sp>
            <p:nvSpPr>
              <p:cNvPr id="18" name="Скругленный прямоугольник 17"/>
              <p:cNvSpPr/>
              <p:nvPr/>
            </p:nvSpPr>
            <p:spPr>
              <a:xfrm>
                <a:off x="2245259" y="2480650"/>
                <a:ext cx="3114392" cy="86007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9" name="Скругленный прямоугольник 18"/>
              <p:cNvSpPr/>
              <p:nvPr/>
            </p:nvSpPr>
            <p:spPr>
              <a:xfrm>
                <a:off x="2326740" y="2983862"/>
                <a:ext cx="2951430" cy="289711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/>
                  <a:t>Компиляция </a:t>
                </a:r>
                <a:r>
                  <a:rPr lang="en-US" dirty="0"/>
                  <a:t>utils.cpp</a:t>
                </a:r>
                <a:endParaRPr lang="ru-RU" dirty="0"/>
              </a:p>
            </p:txBody>
          </p:sp>
          <p:sp>
            <p:nvSpPr>
              <p:cNvPr id="20" name="Скругленный прямоугольник 19"/>
              <p:cNvSpPr/>
              <p:nvPr/>
            </p:nvSpPr>
            <p:spPr>
              <a:xfrm>
                <a:off x="2326740" y="2554959"/>
                <a:ext cx="2951430" cy="289711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/>
                  <a:t>Компиляция </a:t>
                </a:r>
                <a:r>
                  <a:rPr lang="en-US" dirty="0" err="1"/>
                  <a:t>utils.h</a:t>
                </a:r>
                <a:endParaRPr lang="ru-RU" dirty="0"/>
              </a:p>
            </p:txBody>
          </p:sp>
        </p:grpSp>
        <p:sp>
          <p:nvSpPr>
            <p:cNvPr id="16" name="Скругленный прямоугольник 15"/>
            <p:cNvSpPr/>
            <p:nvPr/>
          </p:nvSpPr>
          <p:spPr>
            <a:xfrm>
              <a:off x="2670771" y="2947482"/>
              <a:ext cx="2281473" cy="28971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Препроцессор</a:t>
              </a:r>
            </a:p>
          </p:txBody>
        </p:sp>
        <p:sp>
          <p:nvSpPr>
            <p:cNvPr id="17" name="Скругленный прямоугольник 16"/>
            <p:cNvSpPr/>
            <p:nvPr/>
          </p:nvSpPr>
          <p:spPr>
            <a:xfrm>
              <a:off x="6440058" y="2947482"/>
              <a:ext cx="2281473" cy="28971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Препроцессор</a:t>
              </a:r>
            </a:p>
          </p:txBody>
        </p:sp>
      </p:grpSp>
      <p:cxnSp>
        <p:nvCxnSpPr>
          <p:cNvPr id="21" name="Прямая со стрелкой 20"/>
          <p:cNvCxnSpPr>
            <a:stCxn id="14" idx="2"/>
            <a:endCxn id="9" idx="1"/>
          </p:cNvCxnSpPr>
          <p:nvPr/>
        </p:nvCxnSpPr>
        <p:spPr>
          <a:xfrm>
            <a:off x="4197510" y="4327043"/>
            <a:ext cx="784647" cy="1360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>
            <a:stCxn id="18" idx="2"/>
            <a:endCxn id="9" idx="3"/>
          </p:cNvCxnSpPr>
          <p:nvPr/>
        </p:nvCxnSpPr>
        <p:spPr>
          <a:xfrm flipH="1">
            <a:off x="7263630" y="4897411"/>
            <a:ext cx="703167" cy="7902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Скругленная прямоугольная выноска 22"/>
          <p:cNvSpPr/>
          <p:nvPr/>
        </p:nvSpPr>
        <p:spPr>
          <a:xfrm>
            <a:off x="9909749" y="3047731"/>
            <a:ext cx="2083376" cy="2707242"/>
          </a:xfrm>
          <a:prstGeom prst="wedgeRound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Флаги защиты компиляции не позволяют </a:t>
            </a:r>
            <a:r>
              <a:rPr lang="ru-RU" dirty="0" smtClean="0"/>
              <a:t>компилятору включить код дважды в итоговый исполняемый файл.</a:t>
            </a:r>
            <a:endParaRPr lang="ru-RU" dirty="0"/>
          </a:p>
        </p:txBody>
      </p:sp>
      <p:cxnSp>
        <p:nvCxnSpPr>
          <p:cNvPr id="24" name="Прямая со стрелкой 23"/>
          <p:cNvCxnSpPr/>
          <p:nvPr/>
        </p:nvCxnSpPr>
        <p:spPr>
          <a:xfrm>
            <a:off x="2978324" y="1828420"/>
            <a:ext cx="1892174" cy="506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141346" y="1489866"/>
            <a:ext cx="18369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Что компилируем?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6128" y="1489866"/>
            <a:ext cx="1591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Куда собираем?</a:t>
            </a:r>
          </a:p>
        </p:txBody>
      </p:sp>
      <p:cxnSp>
        <p:nvCxnSpPr>
          <p:cNvPr id="27" name="Прямая со стрелкой 26"/>
          <p:cNvCxnSpPr/>
          <p:nvPr/>
        </p:nvCxnSpPr>
        <p:spPr>
          <a:xfrm flipH="1">
            <a:off x="7713954" y="1816130"/>
            <a:ext cx="1892174" cy="5045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Скругленный прямоугольник 27"/>
          <p:cNvSpPr/>
          <p:nvPr/>
        </p:nvSpPr>
        <p:spPr>
          <a:xfrm>
            <a:off x="204932" y="2795787"/>
            <a:ext cx="2281473" cy="2897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Библиотека </a:t>
            </a:r>
            <a:r>
              <a:rPr lang="en-US" dirty="0"/>
              <a:t>string</a:t>
            </a:r>
            <a:endParaRPr lang="ru-RU" dirty="0"/>
          </a:p>
        </p:txBody>
      </p:sp>
      <p:cxnSp>
        <p:nvCxnSpPr>
          <p:cNvPr id="29" name="Прямая со стрелкой 28"/>
          <p:cNvCxnSpPr>
            <a:stCxn id="32" idx="2"/>
            <a:endCxn id="14" idx="1"/>
          </p:cNvCxnSpPr>
          <p:nvPr/>
        </p:nvCxnSpPr>
        <p:spPr>
          <a:xfrm flipV="1">
            <a:off x="1345668" y="4182188"/>
            <a:ext cx="1376127" cy="952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0" name="Соединительная линия уступом 29"/>
          <p:cNvCxnSpPr>
            <a:stCxn id="28" idx="3"/>
            <a:endCxn id="18" idx="1"/>
          </p:cNvCxnSpPr>
          <p:nvPr/>
        </p:nvCxnSpPr>
        <p:spPr>
          <a:xfrm>
            <a:off x="2486405" y="2940643"/>
            <a:ext cx="3923196" cy="1526729"/>
          </a:xfrm>
          <a:prstGeom prst="bentConnector3">
            <a:avLst>
              <a:gd name="adj1" fmla="val 9072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04932" y="2386645"/>
            <a:ext cx="1808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Импортированы</a:t>
            </a:r>
          </a:p>
        </p:txBody>
      </p:sp>
      <p:sp>
        <p:nvSpPr>
          <p:cNvPr id="32" name="Скругленный прямоугольник 31"/>
          <p:cNvSpPr/>
          <p:nvPr/>
        </p:nvSpPr>
        <p:spPr>
          <a:xfrm>
            <a:off x="204931" y="4844497"/>
            <a:ext cx="2281473" cy="2897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Библиотека </a:t>
            </a:r>
            <a:r>
              <a:rPr lang="en-US" dirty="0" err="1"/>
              <a:t>iostream</a:t>
            </a:r>
            <a:endParaRPr lang="ru-RU" dirty="0"/>
          </a:p>
        </p:txBody>
      </p:sp>
      <p:cxnSp>
        <p:nvCxnSpPr>
          <p:cNvPr id="33" name="Прямая со стрелкой 32"/>
          <p:cNvCxnSpPr>
            <a:stCxn id="28" idx="2"/>
            <a:endCxn id="14" idx="1"/>
          </p:cNvCxnSpPr>
          <p:nvPr/>
        </p:nvCxnSpPr>
        <p:spPr>
          <a:xfrm>
            <a:off x="1345669" y="3085498"/>
            <a:ext cx="1376126" cy="1096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4898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Область имен(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namespace)</a:t>
            </a:r>
            <a:endParaRPr lang="ru-RU" sz="32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grpSp>
        <p:nvGrpSpPr>
          <p:cNvPr id="9" name="Группа 8"/>
          <p:cNvGrpSpPr/>
          <p:nvPr/>
        </p:nvGrpSpPr>
        <p:grpSpPr>
          <a:xfrm>
            <a:off x="203717" y="1000071"/>
            <a:ext cx="4913045" cy="2611220"/>
            <a:chOff x="3292443" y="632159"/>
            <a:chExt cx="4913045" cy="2611220"/>
          </a:xfrm>
        </p:grpSpPr>
        <p:sp>
          <p:nvSpPr>
            <p:cNvPr id="10" name="Прямоугольник 9"/>
            <p:cNvSpPr/>
            <p:nvPr/>
          </p:nvSpPr>
          <p:spPr>
            <a:xfrm>
              <a:off x="3292443" y="996610"/>
              <a:ext cx="4913045" cy="224676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#include 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&lt;</a:t>
              </a:r>
              <a:r>
                <a:rPr lang="en-US" sz="1400" dirty="0" err="1">
                  <a:solidFill>
                    <a:srgbClr val="A31515"/>
                  </a:solidFill>
                  <a:latin typeface="Consolas" panose="020B0609020204030204" pitchFamily="49" charset="0"/>
                </a:rPr>
                <a:t>iostream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&gt;</a:t>
              </a:r>
              <a:endParaRPr lang="en-US" sz="14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#include 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</a:t>
              </a:r>
              <a:r>
                <a:rPr lang="en-US" sz="1400" dirty="0" err="1">
                  <a:solidFill>
                    <a:srgbClr val="A31515"/>
                  </a:solidFill>
                  <a:latin typeface="Consolas" panose="020B0609020204030204" pitchFamily="49" charset="0"/>
                </a:rPr>
                <a:t>utils.h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“</a:t>
              </a:r>
            </a:p>
            <a:p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#include 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&lt;string&gt;</a:t>
              </a:r>
              <a:endParaRPr lang="en-US" sz="14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/>
              </a:r>
              <a:b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</a:br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using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namespace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std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/>
              </a:r>
              <a:b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</a:br>
              <a:r>
                <a:rPr lang="en-US" sz="14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main(){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cout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hellow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() &lt;&lt; 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 '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world() &lt;&lt;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endl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return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0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  <a:endPara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292443" y="632159"/>
              <a:ext cx="11160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main.cpp:</a:t>
              </a:r>
              <a:endParaRPr lang="ru-RU" dirty="0"/>
            </a:p>
          </p:txBody>
        </p:sp>
      </p:grpSp>
      <p:grpSp>
        <p:nvGrpSpPr>
          <p:cNvPr id="12" name="Группа 11"/>
          <p:cNvGrpSpPr/>
          <p:nvPr/>
        </p:nvGrpSpPr>
        <p:grpSpPr>
          <a:xfrm>
            <a:off x="4314028" y="3595975"/>
            <a:ext cx="7762694" cy="2831545"/>
            <a:chOff x="2545687" y="3689074"/>
            <a:chExt cx="6817733" cy="2831545"/>
          </a:xfrm>
        </p:grpSpPr>
        <p:grpSp>
          <p:nvGrpSpPr>
            <p:cNvPr id="13" name="Группа 12"/>
            <p:cNvGrpSpPr/>
            <p:nvPr/>
          </p:nvGrpSpPr>
          <p:grpSpPr>
            <a:xfrm>
              <a:off x="2545687" y="3689074"/>
              <a:ext cx="3404102" cy="2830988"/>
              <a:chOff x="6461156" y="3487033"/>
              <a:chExt cx="3404102" cy="2830988"/>
            </a:xfrm>
          </p:grpSpPr>
          <p:sp>
            <p:nvSpPr>
              <p:cNvPr id="17" name="Прямоугольник 16"/>
              <p:cNvSpPr/>
              <p:nvPr/>
            </p:nvSpPr>
            <p:spPr>
              <a:xfrm>
                <a:off x="6461156" y="3855808"/>
                <a:ext cx="3404102" cy="246221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14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#include </a:t>
                </a:r>
                <a:r>
                  <a:rPr lang="en-US" sz="1400" dirty="0">
                    <a:solidFill>
                      <a:srgbClr val="A31515"/>
                    </a:solidFill>
                    <a:latin typeface="Consolas" panose="020B0609020204030204" pitchFamily="49" charset="0"/>
                  </a:rPr>
                  <a:t>"</a:t>
                </a:r>
                <a:r>
                  <a:rPr lang="en-US" sz="1400" dirty="0" err="1">
                    <a:solidFill>
                      <a:srgbClr val="A31515"/>
                    </a:solidFill>
                    <a:latin typeface="Consolas" panose="020B0609020204030204" pitchFamily="49" charset="0"/>
                  </a:rPr>
                  <a:t>utils.h</a:t>
                </a:r>
                <a:r>
                  <a:rPr lang="en-US" sz="1400" dirty="0">
                    <a:solidFill>
                      <a:srgbClr val="A31515"/>
                    </a:solidFill>
                    <a:latin typeface="Consolas" panose="020B0609020204030204" pitchFamily="49" charset="0"/>
                  </a:rPr>
                  <a:t>"</a:t>
                </a:r>
                <a:endParaRPr lang="en-US" sz="140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/>
                </a:r>
                <a:b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</a:br>
                <a:r>
                  <a:rPr lang="en-US" sz="1400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std</a:t>
                </a:r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::string </a:t>
                </a:r>
                <a:r>
                  <a:rPr lang="en-US" sz="1400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utils</a:t>
                </a:r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::</a:t>
                </a:r>
                <a:r>
                  <a:rPr lang="en-US" sz="1400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hellow</a:t>
                </a:r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(){</a:t>
                </a:r>
              </a:p>
              <a:p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   </a:t>
                </a:r>
                <a:r>
                  <a:rPr lang="en-US" sz="14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return</a:t>
                </a:r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en-US" sz="1400" dirty="0">
                    <a:solidFill>
                      <a:srgbClr val="A31515"/>
                    </a:solidFill>
                    <a:latin typeface="Consolas" panose="020B0609020204030204" pitchFamily="49" charset="0"/>
                  </a:rPr>
                  <a:t>"</a:t>
                </a:r>
                <a:r>
                  <a:rPr lang="en-US" sz="1400" dirty="0" err="1">
                    <a:solidFill>
                      <a:srgbClr val="A31515"/>
                    </a:solidFill>
                    <a:latin typeface="Consolas" panose="020B0609020204030204" pitchFamily="49" charset="0"/>
                  </a:rPr>
                  <a:t>hellow</a:t>
                </a:r>
                <a:r>
                  <a:rPr lang="en-US" sz="1400" dirty="0">
                    <a:solidFill>
                      <a:srgbClr val="A31515"/>
                    </a:solidFill>
                    <a:latin typeface="Consolas" panose="020B0609020204030204" pitchFamily="49" charset="0"/>
                  </a:rPr>
                  <a:t>"</a:t>
                </a:r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;</a:t>
                </a:r>
              </a:p>
              <a:p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}</a:t>
                </a:r>
              </a:p>
              <a:p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/>
                </a:r>
                <a:b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</a:br>
                <a:r>
                  <a:rPr lang="en-US" sz="1400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std</a:t>
                </a:r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::string </a:t>
                </a:r>
                <a:r>
                  <a:rPr lang="en-US" sz="1400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utils</a:t>
                </a:r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::world(){</a:t>
                </a:r>
              </a:p>
              <a:p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   </a:t>
                </a:r>
                <a:r>
                  <a:rPr lang="en-US" sz="14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return</a:t>
                </a:r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en-US" sz="1400" dirty="0">
                    <a:solidFill>
                      <a:srgbClr val="A31515"/>
                    </a:solidFill>
                    <a:latin typeface="Consolas" panose="020B0609020204030204" pitchFamily="49" charset="0"/>
                  </a:rPr>
                  <a:t>"world"</a:t>
                </a:r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;</a:t>
                </a:r>
              </a:p>
              <a:p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}</a:t>
                </a:r>
              </a:p>
              <a:p>
                <a:endParaRPr lang="en-US" sz="140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endParaRPr lang="en-US" sz="140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6461156" y="3487033"/>
                <a:ext cx="10406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utils.cpp:</a:t>
                </a:r>
                <a:endParaRPr lang="ru-RU" dirty="0"/>
              </a:p>
            </p:txBody>
          </p:sp>
        </p:grpSp>
        <p:grpSp>
          <p:nvGrpSpPr>
            <p:cNvPr id="14" name="Группа 13"/>
            <p:cNvGrpSpPr/>
            <p:nvPr/>
          </p:nvGrpSpPr>
          <p:grpSpPr>
            <a:xfrm>
              <a:off x="5959318" y="3689074"/>
              <a:ext cx="3404102" cy="2831545"/>
              <a:chOff x="549244" y="3761466"/>
              <a:chExt cx="3404102" cy="2831545"/>
            </a:xfrm>
          </p:grpSpPr>
          <p:sp>
            <p:nvSpPr>
              <p:cNvPr id="15" name="Прямоугольник 14"/>
              <p:cNvSpPr/>
              <p:nvPr/>
            </p:nvSpPr>
            <p:spPr>
              <a:xfrm>
                <a:off x="549244" y="4130798"/>
                <a:ext cx="3404102" cy="246221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14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#</a:t>
                </a:r>
                <a:r>
                  <a:rPr lang="en-US" sz="1400" dirty="0" err="1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ifndef</a:t>
                </a:r>
                <a:r>
                  <a:rPr lang="en-US" sz="14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 UTILS_H_EXAMPLES</a:t>
                </a:r>
                <a:endParaRPr lang="en-US" sz="140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4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#define UTILS_H_EXAMPLES</a:t>
                </a:r>
              </a:p>
              <a:p>
                <a:endParaRPr lang="en-US" sz="140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4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#include </a:t>
                </a:r>
                <a:r>
                  <a:rPr lang="en-US" sz="1400" dirty="0">
                    <a:solidFill>
                      <a:srgbClr val="A31515"/>
                    </a:solidFill>
                    <a:latin typeface="Consolas" panose="020B0609020204030204" pitchFamily="49" charset="0"/>
                  </a:rPr>
                  <a:t>&lt;string&gt;</a:t>
                </a:r>
                <a:endParaRPr lang="en-US" sz="140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/>
                </a:r>
                <a:b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</a:br>
                <a:r>
                  <a:rPr lang="en-US" sz="14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namespace</a:t>
                </a:r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en-US" sz="1400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utils</a:t>
                </a:r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{</a:t>
                </a:r>
              </a:p>
              <a:p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   </a:t>
                </a:r>
                <a:r>
                  <a:rPr lang="en-US" sz="1400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std</a:t>
                </a:r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::string </a:t>
                </a:r>
                <a:r>
                  <a:rPr lang="en-US" sz="1400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hellow</a:t>
                </a:r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();</a:t>
                </a:r>
              </a:p>
              <a:p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   </a:t>
                </a:r>
                <a:r>
                  <a:rPr lang="en-US" sz="1400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std</a:t>
                </a:r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::string world();</a:t>
                </a:r>
              </a:p>
              <a:p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}</a:t>
                </a:r>
              </a:p>
              <a:p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/>
                </a:r>
                <a:b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</a:br>
                <a:r>
                  <a:rPr lang="en-US" sz="14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#</a:t>
                </a:r>
                <a:r>
                  <a:rPr lang="en-US" sz="1400" dirty="0" err="1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endif</a:t>
                </a:r>
                <a:endPara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549244" y="3761466"/>
                <a:ext cx="8210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utils.h</a:t>
                </a:r>
                <a:r>
                  <a:rPr lang="en-US" dirty="0"/>
                  <a:t>:</a:t>
                </a:r>
                <a:endParaRPr lang="ru-RU" dirty="0"/>
              </a:p>
            </p:txBody>
          </p:sp>
        </p:grpSp>
      </p:grpSp>
      <p:cxnSp>
        <p:nvCxnSpPr>
          <p:cNvPr id="19" name="Прямая соединительная линия 18"/>
          <p:cNvCxnSpPr/>
          <p:nvPr/>
        </p:nvCxnSpPr>
        <p:spPr>
          <a:xfrm>
            <a:off x="5563810" y="5516636"/>
            <a:ext cx="79981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5563810" y="4667126"/>
            <a:ext cx="79981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9135661" y="5300634"/>
            <a:ext cx="79981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364170" y="1364522"/>
            <a:ext cx="66081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Область видимости, это понятие обозначающее некоторый префикс приставляемый к именем переменных, констант, функций и пользовательских типов, отделяемый от них </a:t>
            </a:r>
            <a:r>
              <a:rPr lang="en-US" dirty="0"/>
              <a:t>::</a:t>
            </a:r>
            <a:r>
              <a:rPr lang="ru-RU" dirty="0"/>
              <a:t> а их основной целью служит возможность обеспечить непересекаемость имен.</a:t>
            </a:r>
          </a:p>
          <a:p>
            <a:endParaRPr lang="ru-RU" dirty="0"/>
          </a:p>
          <a:p>
            <a:r>
              <a:rPr lang="ru-RU" dirty="0"/>
              <a:t>Пространства имен могут быть вложенные пространства, что отражается на использовании.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3717" y="3975742"/>
            <a:ext cx="41103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Для использования члена пространства имен(в примере функцию) нужно полностью прописать его название с префиксом.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0282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Директива 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</a:t>
            </a:r>
            <a:endParaRPr lang="ru-RU" sz="32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416" y="1255822"/>
            <a:ext cx="1169858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Директива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dirty="0"/>
              <a:t> </a:t>
            </a:r>
            <a:r>
              <a:rPr lang="ru-RU" dirty="0"/>
              <a:t>позволяет упростить обращения к члену пространства имен, и позволяет опускать указание пространства имен. </a:t>
            </a:r>
            <a:endParaRPr lang="en-US" dirty="0"/>
          </a:p>
          <a:p>
            <a:r>
              <a:rPr lang="ru-RU" dirty="0"/>
              <a:t>Если ее используют с ключевым словом</a:t>
            </a:r>
            <a:r>
              <a:rPr lang="en-US" dirty="0"/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ru-RU" dirty="0"/>
              <a:t>, то это означает, что в дальнейшем, все попытки вызвать какую либо функцию, после поиска по файлу и текущему пространству имен, будет производиться поиск в указанном пространстве.</a:t>
            </a:r>
          </a:p>
          <a:p>
            <a:r>
              <a:rPr lang="ru-RU" dirty="0"/>
              <a:t>Если ее используют без ключевого слова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ru-RU" dirty="0"/>
              <a:t>, то тогда после приводят полное название какого либо члена какого либо пространства имен и в дальнейшем его можно будет использовать без префиксов.</a:t>
            </a:r>
          </a:p>
        </p:txBody>
      </p:sp>
      <p:grpSp>
        <p:nvGrpSpPr>
          <p:cNvPr id="10" name="Группа 9"/>
          <p:cNvGrpSpPr/>
          <p:nvPr/>
        </p:nvGrpSpPr>
        <p:grpSpPr>
          <a:xfrm>
            <a:off x="630919" y="3315600"/>
            <a:ext cx="3616971" cy="3262432"/>
            <a:chOff x="549244" y="3761466"/>
            <a:chExt cx="3176673" cy="3262432"/>
          </a:xfrm>
        </p:grpSpPr>
        <p:sp>
          <p:nvSpPr>
            <p:cNvPr id="11" name="Прямоугольник 10"/>
            <p:cNvSpPr/>
            <p:nvPr/>
          </p:nvSpPr>
          <p:spPr>
            <a:xfrm>
              <a:off x="549244" y="4130798"/>
              <a:ext cx="3176673" cy="28931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#</a:t>
              </a:r>
              <a:r>
                <a:rPr lang="en-US" sz="14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ifndef</a:t>
              </a:r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 UTILS_H_EXAMPLES</a:t>
              </a:r>
              <a:endParaRPr lang="en-US" sz="14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#define UTILS_H_EXAMPLES</a:t>
              </a:r>
            </a:p>
            <a:p>
              <a:endParaRPr lang="en-US" sz="14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#include 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&lt;string&gt;</a:t>
              </a:r>
              <a:endParaRPr lang="en-US" sz="14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/>
              </a:r>
              <a:b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</a:br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namespace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super{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namespace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utils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{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   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std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::string hello();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   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std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::string world();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}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/>
              </a:r>
              <a:b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</a:br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#</a:t>
              </a:r>
              <a:r>
                <a:rPr lang="en-US" sz="14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endif</a:t>
              </a:r>
              <a:endPara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49244" y="3761466"/>
              <a:ext cx="8210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utils.h</a:t>
              </a:r>
              <a:r>
                <a:rPr lang="en-US" dirty="0"/>
                <a:t>:</a:t>
              </a:r>
              <a:endParaRPr lang="ru-RU" dirty="0"/>
            </a:p>
          </p:txBody>
        </p:sp>
      </p:grpSp>
      <p:grpSp>
        <p:nvGrpSpPr>
          <p:cNvPr id="13" name="Группа 12"/>
          <p:cNvGrpSpPr/>
          <p:nvPr/>
        </p:nvGrpSpPr>
        <p:grpSpPr>
          <a:xfrm>
            <a:off x="6836592" y="3315600"/>
            <a:ext cx="4913045" cy="3042107"/>
            <a:chOff x="230611" y="509993"/>
            <a:chExt cx="4913045" cy="3042107"/>
          </a:xfrm>
        </p:grpSpPr>
        <p:grpSp>
          <p:nvGrpSpPr>
            <p:cNvPr id="14" name="Группа 13"/>
            <p:cNvGrpSpPr/>
            <p:nvPr/>
          </p:nvGrpSpPr>
          <p:grpSpPr>
            <a:xfrm>
              <a:off x="230611" y="509993"/>
              <a:ext cx="4913045" cy="3042107"/>
              <a:chOff x="3292443" y="632159"/>
              <a:chExt cx="4913045" cy="3042107"/>
            </a:xfrm>
          </p:grpSpPr>
          <p:sp>
            <p:nvSpPr>
              <p:cNvPr id="17" name="Прямоугольник 16"/>
              <p:cNvSpPr/>
              <p:nvPr/>
            </p:nvSpPr>
            <p:spPr>
              <a:xfrm>
                <a:off x="3292443" y="996610"/>
                <a:ext cx="4913045" cy="26776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14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#include </a:t>
                </a:r>
                <a:r>
                  <a:rPr lang="en-US" sz="1400" dirty="0">
                    <a:solidFill>
                      <a:srgbClr val="A31515"/>
                    </a:solidFill>
                    <a:latin typeface="Consolas" panose="020B0609020204030204" pitchFamily="49" charset="0"/>
                  </a:rPr>
                  <a:t>&lt;</a:t>
                </a:r>
                <a:r>
                  <a:rPr lang="en-US" sz="1400" dirty="0" err="1">
                    <a:solidFill>
                      <a:srgbClr val="A31515"/>
                    </a:solidFill>
                    <a:latin typeface="Consolas" panose="020B0609020204030204" pitchFamily="49" charset="0"/>
                  </a:rPr>
                  <a:t>iostream</a:t>
                </a:r>
                <a:r>
                  <a:rPr lang="en-US" sz="1400" dirty="0">
                    <a:solidFill>
                      <a:srgbClr val="A31515"/>
                    </a:solidFill>
                    <a:latin typeface="Consolas" panose="020B0609020204030204" pitchFamily="49" charset="0"/>
                  </a:rPr>
                  <a:t>&gt;</a:t>
                </a:r>
                <a:endParaRPr lang="en-US" sz="140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4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#include </a:t>
                </a:r>
                <a:r>
                  <a:rPr lang="en-US" sz="1400" dirty="0">
                    <a:solidFill>
                      <a:srgbClr val="A31515"/>
                    </a:solidFill>
                    <a:latin typeface="Consolas" panose="020B0609020204030204" pitchFamily="49" charset="0"/>
                  </a:rPr>
                  <a:t>"</a:t>
                </a:r>
                <a:r>
                  <a:rPr lang="en-US" sz="1400" dirty="0" err="1">
                    <a:solidFill>
                      <a:srgbClr val="A31515"/>
                    </a:solidFill>
                    <a:latin typeface="Consolas" panose="020B0609020204030204" pitchFamily="49" charset="0"/>
                  </a:rPr>
                  <a:t>utils.h</a:t>
                </a:r>
                <a:r>
                  <a:rPr lang="en-US" sz="1400" dirty="0">
                    <a:solidFill>
                      <a:srgbClr val="A31515"/>
                    </a:solidFill>
                    <a:latin typeface="Consolas" panose="020B0609020204030204" pitchFamily="49" charset="0"/>
                  </a:rPr>
                  <a:t>"</a:t>
                </a:r>
                <a:endParaRPr lang="en-US" sz="140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/>
                </a:r>
                <a:b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</a:br>
                <a:r>
                  <a:rPr lang="en-US" sz="14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using</a:t>
                </a:r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en-US" sz="14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namespace</a:t>
                </a:r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en-US" sz="1400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std</a:t>
                </a:r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;</a:t>
                </a:r>
              </a:p>
              <a:p>
                <a:r>
                  <a:rPr lang="en-US" sz="14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using</a:t>
                </a:r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en-US" sz="14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namespace</a:t>
                </a:r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super;</a:t>
                </a:r>
              </a:p>
              <a:p>
                <a:r>
                  <a:rPr lang="en-US" sz="14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using</a:t>
                </a:r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en-US" sz="1400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utils</a:t>
                </a:r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::world;</a:t>
                </a:r>
              </a:p>
              <a:p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/>
                </a:r>
                <a:b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</a:br>
                <a:r>
                  <a:rPr lang="en-US" sz="1400" dirty="0" err="1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int</a:t>
                </a:r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main(){</a:t>
                </a:r>
              </a:p>
              <a:p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   </a:t>
                </a:r>
                <a:r>
                  <a:rPr lang="en-US" sz="1400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cout</a:t>
                </a:r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&lt;&lt; </a:t>
                </a:r>
                <a:r>
                  <a:rPr lang="en-US" sz="1400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utils</a:t>
                </a:r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::hello() &lt;&lt; </a:t>
                </a:r>
                <a:r>
                  <a:rPr lang="en-US" sz="1400" dirty="0">
                    <a:solidFill>
                      <a:srgbClr val="A31515"/>
                    </a:solidFill>
                    <a:latin typeface="Consolas" panose="020B0609020204030204" pitchFamily="49" charset="0"/>
                  </a:rPr>
                  <a:t>' '</a:t>
                </a:r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&lt;&lt; world() &lt;&lt; </a:t>
                </a:r>
                <a:r>
                  <a:rPr lang="en-US" sz="1400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endl</a:t>
                </a:r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;</a:t>
                </a:r>
              </a:p>
              <a:p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   </a:t>
                </a:r>
                <a:r>
                  <a:rPr lang="en-US" sz="14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return</a:t>
                </a:r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en-US" sz="1400" dirty="0">
                    <a:solidFill>
                      <a:srgbClr val="098658"/>
                    </a:solidFill>
                    <a:latin typeface="Consolas" panose="020B0609020204030204" pitchFamily="49" charset="0"/>
                  </a:rPr>
                  <a:t>0</a:t>
                </a:r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;</a:t>
                </a:r>
              </a:p>
              <a:p>
                <a:r>
                  <a:rPr lang="en-US" sz="14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}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3292443" y="632159"/>
                <a:ext cx="11160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main.cpp:</a:t>
                </a:r>
                <a:endParaRPr lang="ru-RU" dirty="0"/>
              </a:p>
            </p:txBody>
          </p:sp>
        </p:grpSp>
        <p:cxnSp>
          <p:nvCxnSpPr>
            <p:cNvPr id="15" name="Прямая соединительная линия 14"/>
            <p:cNvCxnSpPr/>
            <p:nvPr/>
          </p:nvCxnSpPr>
          <p:spPr>
            <a:xfrm>
              <a:off x="311872" y="1981200"/>
              <a:ext cx="2161821" cy="160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5"/>
            <p:cNvCxnSpPr/>
            <p:nvPr/>
          </p:nvCxnSpPr>
          <p:spPr>
            <a:xfrm>
              <a:off x="311872" y="2211668"/>
              <a:ext cx="1824936" cy="160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41438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Нулевой указатель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6796" y="1043189"/>
            <a:ext cx="512414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Указатель может указывать в пустоту. Фактически пустотой является любой адрес по которому указатель не может обратиться(указатель ни на что не указывает, и при обращении по нему выдает ошибку доступа к памяти)</a:t>
            </a:r>
          </a:p>
          <a:p>
            <a:endParaRPr lang="ru-RU" dirty="0"/>
          </a:p>
          <a:p>
            <a:r>
              <a:rPr lang="ru-RU" dirty="0"/>
              <a:t>Но как выявить пустой указатель?</a:t>
            </a:r>
            <a:endParaRPr lang="en-US" dirty="0"/>
          </a:p>
          <a:p>
            <a:r>
              <a:rPr lang="ru-RU" dirty="0"/>
              <a:t>К примеру нам нужно в какой либо функции выяснить нужно ли генерировать число, или оно уже есть?</a:t>
            </a:r>
          </a:p>
          <a:p>
            <a:r>
              <a:rPr lang="ru-RU" dirty="0"/>
              <a:t>Что является пустотой для указателя?</a:t>
            </a:r>
          </a:p>
          <a:p>
            <a:endParaRPr lang="ru-RU" dirty="0"/>
          </a:p>
          <a:p>
            <a:r>
              <a:rPr lang="ru-RU" dirty="0"/>
              <a:t>Нулевой указатель, это указатель который указывает на </a:t>
            </a:r>
            <a:r>
              <a:rPr lang="en-US" dirty="0"/>
              <a:t>0</a:t>
            </a:r>
            <a:r>
              <a:rPr lang="ru-RU" dirty="0"/>
              <a:t>, синонимами которого является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dirty="0"/>
              <a:t> </a:t>
            </a:r>
            <a:r>
              <a:rPr lang="ru-RU" dirty="0"/>
              <a:t>или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nullptr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dirty="0"/>
              <a:t> </a:t>
            </a:r>
            <a:r>
              <a:rPr lang="ru-RU" dirty="0"/>
              <a:t>является наследием С, и является макросом, 0, не является фактическим адресом, а вот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nullptr</a:t>
            </a:r>
            <a:r>
              <a:rPr lang="en-US" dirty="0"/>
              <a:t> </a:t>
            </a:r>
            <a:r>
              <a:rPr lang="ru-RU" dirty="0"/>
              <a:t>это специальное обозначение именно нулевого указателя в С++.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5549907" y="2916223"/>
            <a:ext cx="6096000" cy="3323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generateRandInteger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*&amp;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pi){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(pi ==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&amp;&amp; pi == 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nullptr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&amp;&amp; pi ==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pi =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{rand()};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main(){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srand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(time(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* pi =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  // 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&lt;&lt; *pi &lt;&lt;  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; // Segmentation fault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"&amp;"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pi &lt;&lt;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  &amp;0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generateRandInteger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(pi);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"&amp;"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pi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": 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*pi &lt;&lt;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  &amp;0x56f6c68166c0: 1624841098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5540942" y="1414484"/>
            <a:ext cx="6124877" cy="13849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main(){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* pi;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"&amp;"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pi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": 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*pi &lt;&lt;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 Segmentation fault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8127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Пользовательские типы данных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60881" y="1185111"/>
            <a:ext cx="5065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Пользовательским типом данных называется любой тип который не является заранее установленным в языке. </a:t>
            </a:r>
            <a:endParaRPr lang="en-US" dirty="0"/>
          </a:p>
        </p:txBody>
      </p:sp>
      <p:sp>
        <p:nvSpPr>
          <p:cNvPr id="36" name="Овал 35"/>
          <p:cNvSpPr/>
          <p:nvPr/>
        </p:nvSpPr>
        <p:spPr>
          <a:xfrm>
            <a:off x="5154017" y="1185110"/>
            <a:ext cx="1892174" cy="7242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Типы</a:t>
            </a:r>
          </a:p>
        </p:txBody>
      </p:sp>
      <p:sp>
        <p:nvSpPr>
          <p:cNvPr id="37" name="Овал 36"/>
          <p:cNvSpPr/>
          <p:nvPr/>
        </p:nvSpPr>
        <p:spPr>
          <a:xfrm>
            <a:off x="6302012" y="2417655"/>
            <a:ext cx="1892174" cy="7242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Системные</a:t>
            </a:r>
          </a:p>
        </p:txBody>
      </p:sp>
      <p:cxnSp>
        <p:nvCxnSpPr>
          <p:cNvPr id="38" name="Прямая со стрелкой 37"/>
          <p:cNvCxnSpPr>
            <a:stCxn id="36" idx="4"/>
            <a:endCxn id="40" idx="0"/>
          </p:cNvCxnSpPr>
          <p:nvPr/>
        </p:nvCxnSpPr>
        <p:spPr>
          <a:xfrm flipH="1">
            <a:off x="4923153" y="1909387"/>
            <a:ext cx="1176951" cy="508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Группа 38"/>
          <p:cNvGrpSpPr/>
          <p:nvPr/>
        </p:nvGrpSpPr>
        <p:grpSpPr>
          <a:xfrm>
            <a:off x="491672" y="2417655"/>
            <a:ext cx="8379639" cy="4342294"/>
            <a:chOff x="487591" y="2018395"/>
            <a:chExt cx="8379639" cy="4342294"/>
          </a:xfrm>
        </p:grpSpPr>
        <p:sp>
          <p:nvSpPr>
            <p:cNvPr id="40" name="Овал 39"/>
            <p:cNvSpPr/>
            <p:nvPr/>
          </p:nvSpPr>
          <p:spPr>
            <a:xfrm>
              <a:off x="3972985" y="2018395"/>
              <a:ext cx="1892174" cy="72427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Пользовательские</a:t>
              </a:r>
            </a:p>
          </p:txBody>
        </p:sp>
        <p:sp>
          <p:nvSpPr>
            <p:cNvPr id="41" name="Овал 40"/>
            <p:cNvSpPr/>
            <p:nvPr/>
          </p:nvSpPr>
          <p:spPr>
            <a:xfrm>
              <a:off x="487591" y="4187856"/>
              <a:ext cx="2320896" cy="72427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Перечисления</a:t>
              </a:r>
            </a:p>
          </p:txBody>
        </p:sp>
        <p:sp>
          <p:nvSpPr>
            <p:cNvPr id="42" name="Овал 41"/>
            <p:cNvSpPr/>
            <p:nvPr/>
          </p:nvSpPr>
          <p:spPr>
            <a:xfrm>
              <a:off x="2990686" y="5636412"/>
              <a:ext cx="1892174" cy="72427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Классы</a:t>
              </a:r>
            </a:p>
          </p:txBody>
        </p:sp>
        <p:sp>
          <p:nvSpPr>
            <p:cNvPr id="43" name="Овал 42"/>
            <p:cNvSpPr/>
            <p:nvPr/>
          </p:nvSpPr>
          <p:spPr>
            <a:xfrm>
              <a:off x="4964337" y="5636412"/>
              <a:ext cx="1892174" cy="72427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Структуры</a:t>
              </a:r>
            </a:p>
          </p:txBody>
        </p:sp>
        <p:sp>
          <p:nvSpPr>
            <p:cNvPr id="44" name="Овал 43"/>
            <p:cNvSpPr/>
            <p:nvPr/>
          </p:nvSpPr>
          <p:spPr>
            <a:xfrm>
              <a:off x="1679572" y="4912133"/>
              <a:ext cx="2251422" cy="72427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Объединения</a:t>
              </a:r>
            </a:p>
          </p:txBody>
        </p:sp>
        <p:sp>
          <p:nvSpPr>
            <p:cNvPr id="45" name="Овал 44"/>
            <p:cNvSpPr/>
            <p:nvPr/>
          </p:nvSpPr>
          <p:spPr>
            <a:xfrm>
              <a:off x="6975056" y="4213850"/>
              <a:ext cx="1892174" cy="72427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Поля битов</a:t>
              </a:r>
            </a:p>
          </p:txBody>
        </p:sp>
        <p:sp>
          <p:nvSpPr>
            <p:cNvPr id="46" name="Овал 45"/>
            <p:cNvSpPr/>
            <p:nvPr/>
          </p:nvSpPr>
          <p:spPr>
            <a:xfrm>
              <a:off x="5910424" y="4938128"/>
              <a:ext cx="2129264" cy="72427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Псевдонимы</a:t>
              </a:r>
            </a:p>
          </p:txBody>
        </p:sp>
        <p:cxnSp>
          <p:nvCxnSpPr>
            <p:cNvPr id="47" name="Прямая со стрелкой 46"/>
            <p:cNvCxnSpPr>
              <a:stCxn id="40" idx="4"/>
              <a:endCxn id="41" idx="0"/>
            </p:cNvCxnSpPr>
            <p:nvPr/>
          </p:nvCxnSpPr>
          <p:spPr>
            <a:xfrm flipH="1">
              <a:off x="1648039" y="2742672"/>
              <a:ext cx="3271033" cy="14451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Прямая со стрелкой 47"/>
            <p:cNvCxnSpPr>
              <a:stCxn id="40" idx="4"/>
              <a:endCxn id="44" idx="0"/>
            </p:cNvCxnSpPr>
            <p:nvPr/>
          </p:nvCxnSpPr>
          <p:spPr>
            <a:xfrm flipH="1">
              <a:off x="2805283" y="2742672"/>
              <a:ext cx="2113789" cy="21694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Прямая со стрелкой 48"/>
            <p:cNvCxnSpPr>
              <a:stCxn id="40" idx="4"/>
              <a:endCxn id="42" idx="0"/>
            </p:cNvCxnSpPr>
            <p:nvPr/>
          </p:nvCxnSpPr>
          <p:spPr>
            <a:xfrm flipH="1">
              <a:off x="3936773" y="2742672"/>
              <a:ext cx="982299" cy="28937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Прямая со стрелкой 49"/>
            <p:cNvCxnSpPr>
              <a:stCxn id="40" idx="4"/>
              <a:endCxn id="46" idx="0"/>
            </p:cNvCxnSpPr>
            <p:nvPr/>
          </p:nvCxnSpPr>
          <p:spPr>
            <a:xfrm>
              <a:off x="4919072" y="2742672"/>
              <a:ext cx="2055984" cy="21954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Прямая со стрелкой 50"/>
            <p:cNvCxnSpPr>
              <a:stCxn id="40" idx="4"/>
              <a:endCxn id="43" idx="0"/>
            </p:cNvCxnSpPr>
            <p:nvPr/>
          </p:nvCxnSpPr>
          <p:spPr>
            <a:xfrm>
              <a:off x="4919072" y="2742672"/>
              <a:ext cx="991352" cy="28937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Прямая со стрелкой 51"/>
            <p:cNvCxnSpPr>
              <a:stCxn id="40" idx="4"/>
              <a:endCxn id="45" idx="0"/>
            </p:cNvCxnSpPr>
            <p:nvPr/>
          </p:nvCxnSpPr>
          <p:spPr>
            <a:xfrm>
              <a:off x="4919072" y="2742672"/>
              <a:ext cx="3002071" cy="14711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" name="Прямая со стрелкой 52"/>
          <p:cNvCxnSpPr>
            <a:stCxn id="36" idx="4"/>
            <a:endCxn id="37" idx="0"/>
          </p:cNvCxnSpPr>
          <p:nvPr/>
        </p:nvCxnSpPr>
        <p:spPr>
          <a:xfrm>
            <a:off x="6100104" y="1909387"/>
            <a:ext cx="1147995" cy="508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Группа 53"/>
          <p:cNvGrpSpPr/>
          <p:nvPr/>
        </p:nvGrpSpPr>
        <p:grpSpPr>
          <a:xfrm>
            <a:off x="9582648" y="2880538"/>
            <a:ext cx="2118511" cy="3413156"/>
            <a:chOff x="9551406" y="2987644"/>
            <a:chExt cx="2118511" cy="3413156"/>
          </a:xfrm>
        </p:grpSpPr>
        <p:sp>
          <p:nvSpPr>
            <p:cNvPr id="55" name="Прямоугольник 54"/>
            <p:cNvSpPr/>
            <p:nvPr/>
          </p:nvSpPr>
          <p:spPr>
            <a:xfrm>
              <a:off x="9551406" y="2987644"/>
              <a:ext cx="2118511" cy="341315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6" name="Овал 55"/>
            <p:cNvSpPr/>
            <p:nvPr/>
          </p:nvSpPr>
          <p:spPr>
            <a:xfrm>
              <a:off x="9668462" y="3075283"/>
              <a:ext cx="1892174" cy="72427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Числовые</a:t>
              </a:r>
            </a:p>
          </p:txBody>
        </p:sp>
        <p:sp>
          <p:nvSpPr>
            <p:cNvPr id="57" name="Овал 56"/>
            <p:cNvSpPr/>
            <p:nvPr/>
          </p:nvSpPr>
          <p:spPr>
            <a:xfrm>
              <a:off x="9668462" y="3911146"/>
              <a:ext cx="1892174" cy="72427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Символьный</a:t>
              </a:r>
            </a:p>
          </p:txBody>
        </p:sp>
        <p:sp>
          <p:nvSpPr>
            <p:cNvPr id="58" name="Овал 57"/>
            <p:cNvSpPr/>
            <p:nvPr/>
          </p:nvSpPr>
          <p:spPr>
            <a:xfrm>
              <a:off x="9705783" y="4747009"/>
              <a:ext cx="1892174" cy="72427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Логический</a:t>
              </a:r>
            </a:p>
          </p:txBody>
        </p:sp>
        <p:sp>
          <p:nvSpPr>
            <p:cNvPr id="59" name="Овал 58"/>
            <p:cNvSpPr/>
            <p:nvPr/>
          </p:nvSpPr>
          <p:spPr>
            <a:xfrm>
              <a:off x="9668462" y="5562988"/>
              <a:ext cx="1892174" cy="72427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…</a:t>
              </a:r>
            </a:p>
          </p:txBody>
        </p:sp>
      </p:grpSp>
      <p:cxnSp>
        <p:nvCxnSpPr>
          <p:cNvPr id="60" name="Прямая со стрелкой 59"/>
          <p:cNvCxnSpPr>
            <a:stCxn id="37" idx="4"/>
            <a:endCxn id="55" idx="1"/>
          </p:cNvCxnSpPr>
          <p:nvPr/>
        </p:nvCxnSpPr>
        <p:spPr>
          <a:xfrm>
            <a:off x="7248099" y="3141932"/>
            <a:ext cx="2334549" cy="1445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7946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Перечисления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grpSp>
        <p:nvGrpSpPr>
          <p:cNvPr id="9" name="Группа 8"/>
          <p:cNvGrpSpPr/>
          <p:nvPr/>
        </p:nvGrpSpPr>
        <p:grpSpPr>
          <a:xfrm>
            <a:off x="404388" y="3796556"/>
            <a:ext cx="10507800" cy="2677656"/>
            <a:chOff x="639778" y="3233919"/>
            <a:chExt cx="10507800" cy="2677656"/>
          </a:xfrm>
        </p:grpSpPr>
        <p:sp>
          <p:nvSpPr>
            <p:cNvPr id="10" name="Прямоугольник 9"/>
            <p:cNvSpPr/>
            <p:nvPr/>
          </p:nvSpPr>
          <p:spPr>
            <a:xfrm>
              <a:off x="639778" y="3772528"/>
              <a:ext cx="1931406" cy="16004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enum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Status{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SUCCESS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FAIL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WARNING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ERROR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INFO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};</a:t>
              </a:r>
              <a:endPara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11" name="Прямоугольник 10"/>
            <p:cNvSpPr/>
            <p:nvPr/>
          </p:nvSpPr>
          <p:spPr>
            <a:xfrm>
              <a:off x="2336248" y="3233919"/>
              <a:ext cx="8811330" cy="26776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main(){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Status 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current_status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2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SUCCESS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cout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current_status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endl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  <a:r>
                <a:rPr lang="en-US" sz="1200" dirty="0">
                  <a:solidFill>
                    <a:srgbClr val="008000"/>
                  </a:solidFill>
                  <a:latin typeface="Consolas" panose="020B0609020204030204" pitchFamily="49" charset="0"/>
                </a:rPr>
                <a:t>                      // 0</a:t>
              </a:r>
              <a:endParaRPr lang="en-US" sz="12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current_status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= </a:t>
              </a:r>
              <a:r>
                <a:rPr lang="en-US" sz="12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FAIL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cout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current_status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endl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  <a:r>
                <a:rPr lang="en-US" sz="1200" dirty="0">
                  <a:solidFill>
                    <a:srgbClr val="008000"/>
                  </a:solidFill>
                  <a:latin typeface="Consolas" panose="020B0609020204030204" pitchFamily="49" charset="0"/>
                </a:rPr>
                <a:t>                      // 1</a:t>
              </a:r>
              <a:endParaRPr lang="en-US" sz="12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Status* 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pstatus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= &amp;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current_status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cout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pstatus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2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 = "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&amp;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current_status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endl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  <a:r>
                <a:rPr lang="en-US" sz="1200" dirty="0">
                  <a:solidFill>
                    <a:srgbClr val="008000"/>
                  </a:solidFill>
                  <a:latin typeface="Consolas" panose="020B0609020204030204" pitchFamily="49" charset="0"/>
                </a:rPr>
                <a:t> // 0x61fe0c = 0x61fe0c</a:t>
              </a:r>
              <a:endParaRPr lang="en-US" sz="12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*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pstatus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= </a:t>
              </a:r>
              <a:r>
                <a:rPr lang="en-US" sz="12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INFO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cout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current_status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endl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  <a:r>
                <a:rPr lang="en-US" sz="1200" dirty="0">
                  <a:solidFill>
                    <a:srgbClr val="008000"/>
                  </a:solidFill>
                  <a:latin typeface="Consolas" panose="020B0609020204030204" pitchFamily="49" charset="0"/>
                </a:rPr>
                <a:t>                      // 4</a:t>
              </a:r>
              <a:endParaRPr lang="en-US" sz="12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Status&amp; 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rstatus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= 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current_status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current_status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= </a:t>
              </a:r>
              <a:r>
                <a:rPr lang="en-US" sz="12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WARNING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cout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rstatus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endl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  <a:r>
                <a:rPr lang="en-US" sz="1200" dirty="0">
                  <a:solidFill>
                    <a:srgbClr val="008000"/>
                  </a:solidFill>
                  <a:latin typeface="Consolas" panose="020B0609020204030204" pitchFamily="49" charset="0"/>
                </a:rPr>
                <a:t>                             // 2</a:t>
              </a:r>
              <a:endParaRPr lang="en-US" sz="12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return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en-US" sz="12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0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  <a:endPara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404388" y="1211233"/>
            <a:ext cx="1141038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Перечисление, это специальная структура языка которая позволяет хранить только заранее предустановленный набор значений.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ru-RU" dirty="0"/>
          </a:p>
          <a:p>
            <a:r>
              <a:rPr lang="ru-RU" dirty="0"/>
              <a:t>Перечисление самостоятельно присвоит значения каждому названию, однако вы можете сделать это самостоятельно используя строчку вида</a:t>
            </a:r>
            <a:r>
              <a:rPr lang="en-US" dirty="0"/>
              <a:t>: &lt;</a:t>
            </a:r>
            <a:r>
              <a:rPr lang="ru-RU" dirty="0"/>
              <a:t>название значения</a:t>
            </a:r>
            <a:r>
              <a:rPr lang="en-US" dirty="0"/>
              <a:t>&gt;</a:t>
            </a:r>
            <a:r>
              <a:rPr lang="ru-RU" dirty="0"/>
              <a:t> = </a:t>
            </a:r>
            <a:r>
              <a:rPr lang="en-US" dirty="0"/>
              <a:t>&lt;</a:t>
            </a:r>
            <a:r>
              <a:rPr lang="ru-RU" dirty="0"/>
              <a:t>значение</a:t>
            </a:r>
            <a:r>
              <a:rPr lang="en-US" dirty="0"/>
              <a:t>&gt;.</a:t>
            </a:r>
          </a:p>
          <a:p>
            <a:r>
              <a:rPr lang="ru-RU" dirty="0"/>
              <a:t>Значением в данном случае может являться только число типа </a:t>
            </a:r>
            <a:r>
              <a:rPr lang="en-US" dirty="0" err="1"/>
              <a:t>int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364967" y="1846035"/>
            <a:ext cx="748922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Сигнатура</a:t>
            </a:r>
            <a:r>
              <a:rPr lang="en-US" sz="1400" dirty="0"/>
              <a:t>:</a:t>
            </a:r>
          </a:p>
          <a:p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enum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название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&gt;{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перечисление названий значений через запятую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460682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Проблемы перечислений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2560946" y="4567520"/>
            <a:ext cx="888698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4388" y="1211233"/>
            <a:ext cx="114103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Главное проблемой перечисления является глобальная область видимости ее частей. Т.е. если мы создаем перечисление </a:t>
            </a:r>
            <a:r>
              <a:rPr lang="en-US" dirty="0"/>
              <a:t>Status</a:t>
            </a:r>
            <a:r>
              <a:rPr lang="ru-RU" dirty="0"/>
              <a:t> и в нем задаем его частью </a:t>
            </a:r>
            <a:r>
              <a:rPr lang="en-US" dirty="0"/>
              <a:t>FAIL</a:t>
            </a:r>
            <a:r>
              <a:rPr lang="ru-RU" dirty="0"/>
              <a:t>, то оно становится глобальной константой со значением 1. Что автоматически запрещает нам использовать это наименование в других перечислениях или константах.</a:t>
            </a:r>
          </a:p>
          <a:p>
            <a:r>
              <a:rPr lang="ru-RU" dirty="0"/>
              <a:t>Также, перечисления автоматически приводятся к типу </a:t>
            </a:r>
            <a:r>
              <a:rPr lang="ru-RU" dirty="0" err="1"/>
              <a:t>инт</a:t>
            </a:r>
            <a:r>
              <a:rPr lang="ru-RU" dirty="0"/>
              <a:t>, что иногда может быть не нужно.</a:t>
            </a:r>
          </a:p>
          <a:p>
            <a:r>
              <a:rPr lang="ru-RU" dirty="0"/>
              <a:t>Что бы избежать этих проблем в современном стандарте</a:t>
            </a:r>
            <a:r>
              <a:rPr lang="en-US" dirty="0"/>
              <a:t> (</a:t>
            </a:r>
            <a:r>
              <a:rPr lang="ru-RU" dirty="0"/>
              <a:t>с </a:t>
            </a:r>
            <a:r>
              <a:rPr lang="en-US" dirty="0"/>
              <a:t>C++ 11)</a:t>
            </a:r>
            <a:r>
              <a:rPr lang="ru-RU" dirty="0"/>
              <a:t> существует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enum</a:t>
            </a:r>
            <a:r>
              <a:rPr lang="ru-RU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576073" y="2649850"/>
            <a:ext cx="748922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Сигнатура</a:t>
            </a:r>
            <a:r>
              <a:rPr lang="en-US" sz="1400" dirty="0"/>
              <a:t>:</a:t>
            </a:r>
          </a:p>
          <a:p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enum</a:t>
            </a:r>
            <a:r>
              <a:rPr lang="ru-RU" sz="1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название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 &lt;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тип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&gt;{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перечисление названий значений через запятую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Название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&gt;::&lt;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значение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</p:txBody>
      </p:sp>
      <p:grpSp>
        <p:nvGrpSpPr>
          <p:cNvPr id="13" name="Группа 12"/>
          <p:cNvGrpSpPr/>
          <p:nvPr/>
        </p:nvGrpSpPr>
        <p:grpSpPr>
          <a:xfrm>
            <a:off x="404388" y="4043822"/>
            <a:ext cx="10344259" cy="2677656"/>
            <a:chOff x="404388" y="4179929"/>
            <a:chExt cx="10344259" cy="2677656"/>
          </a:xfrm>
        </p:grpSpPr>
        <p:sp>
          <p:nvSpPr>
            <p:cNvPr id="10" name="Прямоугольник 9"/>
            <p:cNvSpPr/>
            <p:nvPr/>
          </p:nvSpPr>
          <p:spPr>
            <a:xfrm>
              <a:off x="404388" y="4718538"/>
              <a:ext cx="2156559" cy="16004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enum</a:t>
              </a:r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class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Status{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SUCCESS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FAIL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WARNING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ERROR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INFO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};</a:t>
              </a:r>
              <a:endPara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6" name="Прямоугольник 5"/>
            <p:cNvSpPr/>
            <p:nvPr/>
          </p:nvSpPr>
          <p:spPr>
            <a:xfrm>
              <a:off x="2695415" y="4179929"/>
              <a:ext cx="8053232" cy="26776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main(){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Status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current_status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(Status::SUCCESS);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cout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&lt;&lt; </a:t>
              </a:r>
              <a:r>
                <a:rPr lang="en-US" sz="12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static_cast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&lt;</a:t>
              </a:r>
              <a:r>
                <a:rPr lang="en-US" sz="12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&gt;(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current_status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 &lt;&lt;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endl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  <a:r>
                <a:rPr lang="en-US" sz="1200" dirty="0">
                  <a:solidFill>
                    <a:srgbClr val="008000"/>
                  </a:solidFill>
                  <a:latin typeface="Consolas" panose="020B0609020204030204" pitchFamily="49" charset="0"/>
                </a:rPr>
                <a:t>                     // 0</a:t>
              </a:r>
              <a:endParaRPr lang="en-US" sz="12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current_status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 Status::FAIL;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cout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&lt;&lt; </a:t>
              </a:r>
              <a:r>
                <a:rPr lang="en-US" sz="12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static_cast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&lt;</a:t>
              </a:r>
              <a:r>
                <a:rPr lang="en-US" sz="12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&gt;(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current_status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 &lt;&lt;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endl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  <a:r>
                <a:rPr lang="en-US" sz="1200" dirty="0">
                  <a:solidFill>
                    <a:srgbClr val="008000"/>
                  </a:solidFill>
                  <a:latin typeface="Consolas" panose="020B0609020204030204" pitchFamily="49" charset="0"/>
                </a:rPr>
                <a:t>                     // 1</a:t>
              </a:r>
              <a:endParaRPr lang="en-US" sz="12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Status*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pstatus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 &amp;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current_status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cout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&lt;&lt;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pstatus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&lt;&lt; </a:t>
              </a:r>
              <a:r>
                <a:rPr lang="en-US" sz="12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 = "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&lt;&lt; &amp;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current_status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&lt;&lt;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endl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  <a:r>
                <a:rPr lang="en-US" sz="1200" dirty="0">
                  <a:solidFill>
                    <a:srgbClr val="008000"/>
                  </a:solidFill>
                  <a:latin typeface="Consolas" panose="020B0609020204030204" pitchFamily="49" charset="0"/>
                </a:rPr>
                <a:t> // 0x7ffd032f9344 = 0x7ffd032f9344</a:t>
              </a:r>
              <a:endParaRPr lang="en-US" sz="12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*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pstatus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 Status::INFO;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cout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&lt;&lt; </a:t>
              </a:r>
              <a:r>
                <a:rPr lang="en-US" sz="12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static_cast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&lt;</a:t>
              </a:r>
              <a:r>
                <a:rPr lang="en-US" sz="12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&gt;(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current_status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 &lt;&lt;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endl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  <a:r>
                <a:rPr lang="en-US" sz="1200" dirty="0">
                  <a:solidFill>
                    <a:srgbClr val="008000"/>
                  </a:solidFill>
                  <a:latin typeface="Consolas" panose="020B0609020204030204" pitchFamily="49" charset="0"/>
                </a:rPr>
                <a:t>                     // 4</a:t>
              </a:r>
              <a:endParaRPr lang="en-US" sz="12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Status&amp;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rstatus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current_status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current_status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 Status::WARNING;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cout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&lt;&lt; </a:t>
              </a:r>
              <a:r>
                <a:rPr lang="en-US" sz="12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static_cast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&lt;</a:t>
              </a:r>
              <a:r>
                <a:rPr lang="en-US" sz="12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&gt;(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rstatus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 &lt;&lt;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endl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  <a:r>
                <a:rPr lang="en-US" sz="1200" dirty="0">
                  <a:solidFill>
                    <a:srgbClr val="008000"/>
                  </a:solidFill>
                  <a:latin typeface="Consolas" panose="020B0609020204030204" pitchFamily="49" charset="0"/>
                </a:rPr>
                <a:t>                           // 2</a:t>
              </a:r>
              <a:endParaRPr lang="en-US" sz="12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return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2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0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  <a:endPara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7810239" y="2967424"/>
            <a:ext cx="40879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 приводятся к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ru-RU" dirty="0"/>
              <a:t>автоматически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Ограниченная область видимости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Можно изменить тип хранения</a:t>
            </a:r>
          </a:p>
        </p:txBody>
      </p:sp>
    </p:spTree>
    <p:extLst>
      <p:ext uri="{BB962C8B-B14F-4D97-AF65-F5344CB8AC3E}">
        <p14:creationId xmlns:p14="http://schemas.microsoft.com/office/powerpoint/2010/main" val="120369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Переназначение 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operator &lt;&lt;</a:t>
            </a:r>
            <a:endParaRPr lang="ru-RU" sz="32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2560946" y="4567520"/>
            <a:ext cx="888698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4388" y="1211233"/>
            <a:ext cx="11410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Для вывод перечисления</a:t>
            </a:r>
            <a:r>
              <a:rPr lang="en-US" dirty="0"/>
              <a:t> </a:t>
            </a:r>
            <a:r>
              <a:rPr lang="ru-RU" dirty="0"/>
              <a:t>класса нужно всегда выполнять приведение типа, но можно просто определить свою функцию вывода в поток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250661" y="2557289"/>
            <a:ext cx="462057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ostream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&lt;&lt;(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ostream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Status c)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static_cast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&gt;(c);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238301" y="3995678"/>
            <a:ext cx="683076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main(){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Status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current_status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(Status::SUCCESS);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current_status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                  // SUCCESS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current_status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Status::FAIL;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current_status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                  // FAIL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Status*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pstatus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&amp;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current_status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pstatus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=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&amp;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current_status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 0x7ffd032f9344 = 0x7ffd032f9344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*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pstatus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Status::INFO;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current_status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                  // INFO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Status&amp;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rstatus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current_status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current_status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Status::WARNING;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rstatus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                         // WARNING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5140791" y="1489866"/>
            <a:ext cx="683076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main(){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Status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current_status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{Status::SUCCESS};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current_status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                  // 0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current_status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Status::FAIL;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current_status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                  // 1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Status*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pstatus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&amp;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current_status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pstatus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=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&amp;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current_status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 0x7ffd032f9344 = 0x7ffd032f9344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*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pstatus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Status::INFO;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current_status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                  // 4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Status&amp;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rstatus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current_status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current_status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Status::WARNING;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rstatus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                         // 2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6795247" y="4303454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ostream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&lt;&lt;(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ostream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Status c)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switch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(c)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Status::SUCCESS: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"SUCCESS"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Status::FAIL: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"FAIL"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Status::WARNING: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"WARNING"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Status::ERROR: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"ERROR"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Status::INFO: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"INFO"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"UNKNOWN"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02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Структуры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grpSp>
        <p:nvGrpSpPr>
          <p:cNvPr id="9" name="Группа 8"/>
          <p:cNvGrpSpPr/>
          <p:nvPr/>
        </p:nvGrpSpPr>
        <p:grpSpPr>
          <a:xfrm>
            <a:off x="231426" y="3492064"/>
            <a:ext cx="11791884" cy="3416320"/>
            <a:chOff x="303546" y="3193759"/>
            <a:chExt cx="11791884" cy="3416320"/>
          </a:xfrm>
        </p:grpSpPr>
        <p:sp>
          <p:nvSpPr>
            <p:cNvPr id="10" name="Прямоугольник 9"/>
            <p:cNvSpPr/>
            <p:nvPr/>
          </p:nvSpPr>
          <p:spPr>
            <a:xfrm>
              <a:off x="8730547" y="3193759"/>
              <a:ext cx="3364883" cy="34163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dirty="0"/>
                <a:t>Структура располагается в памяти как один единый блок, переменные располагаются в этом блоке строго друг за другом в порядке объявления структуре, а общий занимаемый структурой объем памяти равен сумме объемов памяти требуемых на хранения каждого из полей структуры по </a:t>
              </a:r>
              <a:r>
                <a:rPr lang="ru-RU" dirty="0" smtClean="0"/>
                <a:t>отдельности</a:t>
              </a:r>
              <a:r>
                <a:rPr lang="ru-RU" dirty="0"/>
                <a:t> </a:t>
              </a:r>
              <a:r>
                <a:rPr lang="ru-RU" dirty="0" smtClean="0"/>
                <a:t>с учетом сдвигов при выравнивании</a:t>
              </a:r>
              <a:r>
                <a:rPr lang="en-US" dirty="0"/>
                <a:t>/</a:t>
              </a:r>
              <a:endParaRPr lang="ru-RU" dirty="0"/>
            </a:p>
          </p:txBody>
        </p:sp>
        <p:grpSp>
          <p:nvGrpSpPr>
            <p:cNvPr id="11" name="Группа 10"/>
            <p:cNvGrpSpPr/>
            <p:nvPr/>
          </p:nvGrpSpPr>
          <p:grpSpPr>
            <a:xfrm>
              <a:off x="303546" y="3572382"/>
              <a:ext cx="8349628" cy="2382073"/>
              <a:chOff x="357867" y="3193759"/>
              <a:chExt cx="8349628" cy="2382073"/>
            </a:xfrm>
          </p:grpSpPr>
          <p:grpSp>
            <p:nvGrpSpPr>
              <p:cNvPr id="12" name="Группа 11"/>
              <p:cNvGrpSpPr/>
              <p:nvPr/>
            </p:nvGrpSpPr>
            <p:grpSpPr>
              <a:xfrm>
                <a:off x="361504" y="3193759"/>
                <a:ext cx="8345991" cy="1133881"/>
                <a:chOff x="1923020" y="2992579"/>
                <a:chExt cx="8345991" cy="1133881"/>
              </a:xfrm>
            </p:grpSpPr>
            <p:sp>
              <p:nvSpPr>
                <p:cNvPr id="43" name="Блок-схема: процесс 42"/>
                <p:cNvSpPr/>
                <p:nvPr/>
              </p:nvSpPr>
              <p:spPr>
                <a:xfrm>
                  <a:off x="2722748" y="3357488"/>
                  <a:ext cx="1568072" cy="369686"/>
                </a:xfrm>
                <a:prstGeom prst="flowChartProcess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0</a:t>
                  </a:r>
                  <a:endParaRPr lang="ru-RU" dirty="0"/>
                </a:p>
              </p:txBody>
            </p:sp>
            <p:sp>
              <p:nvSpPr>
                <p:cNvPr id="44" name="Блок-схема: процесс 43"/>
                <p:cNvSpPr/>
                <p:nvPr/>
              </p:nvSpPr>
              <p:spPr>
                <a:xfrm>
                  <a:off x="4318588" y="3357488"/>
                  <a:ext cx="1568072" cy="369686"/>
                </a:xfrm>
                <a:prstGeom prst="flowChartProcess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</a:t>
                  </a:r>
                  <a:endParaRPr lang="ru-RU" dirty="0"/>
                </a:p>
              </p:txBody>
            </p:sp>
            <p:sp>
              <p:nvSpPr>
                <p:cNvPr id="45" name="Блок-схема: процесс 44"/>
                <p:cNvSpPr/>
                <p:nvPr/>
              </p:nvSpPr>
              <p:spPr>
                <a:xfrm>
                  <a:off x="5914428" y="3357488"/>
                  <a:ext cx="1568072" cy="369686"/>
                </a:xfrm>
                <a:prstGeom prst="flowChartProcess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2</a:t>
                  </a:r>
                  <a:endParaRPr lang="ru-RU" dirty="0"/>
                </a:p>
              </p:txBody>
            </p:sp>
            <p:sp>
              <p:nvSpPr>
                <p:cNvPr id="46" name="Блок-схема: процесс 45"/>
                <p:cNvSpPr/>
                <p:nvPr/>
              </p:nvSpPr>
              <p:spPr>
                <a:xfrm>
                  <a:off x="7510268" y="3357488"/>
                  <a:ext cx="1565153" cy="369686"/>
                </a:xfrm>
                <a:prstGeom prst="flowChartProcess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3</a:t>
                  </a:r>
                  <a:endParaRPr lang="ru-RU" dirty="0"/>
                </a:p>
              </p:txBody>
            </p:sp>
            <p:grpSp>
              <p:nvGrpSpPr>
                <p:cNvPr id="47" name="Группа 46"/>
                <p:cNvGrpSpPr/>
                <p:nvPr/>
              </p:nvGrpSpPr>
              <p:grpSpPr>
                <a:xfrm>
                  <a:off x="1923020" y="3737157"/>
                  <a:ext cx="8345991" cy="389303"/>
                  <a:chOff x="2109358" y="873654"/>
                  <a:chExt cx="8345991" cy="389303"/>
                </a:xfrm>
              </p:grpSpPr>
              <p:sp>
                <p:nvSpPr>
                  <p:cNvPr id="49" name="Рамка 48"/>
                  <p:cNvSpPr/>
                  <p:nvPr/>
                </p:nvSpPr>
                <p:spPr>
                  <a:xfrm>
                    <a:off x="2509755" y="873658"/>
                    <a:ext cx="371192" cy="389299"/>
                  </a:xfrm>
                  <a:prstGeom prst="fram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ru-RU" sz="1000" spc="-150" dirty="0">
                        <a:solidFill>
                          <a:schemeClr val="tx1"/>
                        </a:solidFill>
                        <a:cs typeface="Times New Roman" panose="02020603050405020304" pitchFamily="18" charset="0"/>
                      </a:rPr>
                      <a:t>1</a:t>
                    </a:r>
                  </a:p>
                </p:txBody>
              </p:sp>
              <p:sp>
                <p:nvSpPr>
                  <p:cNvPr id="50" name="Рамка 49"/>
                  <p:cNvSpPr/>
                  <p:nvPr/>
                </p:nvSpPr>
                <p:spPr>
                  <a:xfrm>
                    <a:off x="2908715" y="873658"/>
                    <a:ext cx="371192" cy="389299"/>
                  </a:xfrm>
                  <a:prstGeom prst="fram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ru-RU" sz="1000" spc="-150" dirty="0">
                        <a:solidFill>
                          <a:schemeClr val="tx1"/>
                        </a:solidFill>
                        <a:cs typeface="Times New Roman" panose="02020603050405020304" pitchFamily="18" charset="0"/>
                      </a:rPr>
                      <a:t>2</a:t>
                    </a:r>
                  </a:p>
                </p:txBody>
              </p:sp>
              <p:sp>
                <p:nvSpPr>
                  <p:cNvPr id="51" name="Рамка 50"/>
                  <p:cNvSpPr/>
                  <p:nvPr/>
                </p:nvSpPr>
                <p:spPr>
                  <a:xfrm>
                    <a:off x="3307675" y="873658"/>
                    <a:ext cx="371192" cy="389299"/>
                  </a:xfrm>
                  <a:prstGeom prst="fram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ru-RU" sz="1000" spc="-150" dirty="0">
                        <a:solidFill>
                          <a:schemeClr val="tx1"/>
                        </a:solidFill>
                        <a:cs typeface="Times New Roman" panose="02020603050405020304" pitchFamily="18" charset="0"/>
                      </a:rPr>
                      <a:t>3</a:t>
                    </a:r>
                  </a:p>
                </p:txBody>
              </p:sp>
              <p:sp>
                <p:nvSpPr>
                  <p:cNvPr id="52" name="Рамка 51"/>
                  <p:cNvSpPr/>
                  <p:nvPr/>
                </p:nvSpPr>
                <p:spPr>
                  <a:xfrm>
                    <a:off x="3706635" y="873658"/>
                    <a:ext cx="371192" cy="389299"/>
                  </a:xfrm>
                  <a:prstGeom prst="fram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ru-RU" sz="1000" spc="-150" dirty="0">
                        <a:solidFill>
                          <a:schemeClr val="tx1"/>
                        </a:solidFill>
                        <a:cs typeface="Times New Roman" panose="02020603050405020304" pitchFamily="18" charset="0"/>
                      </a:rPr>
                      <a:t>4</a:t>
                    </a:r>
                  </a:p>
                </p:txBody>
              </p:sp>
              <p:sp>
                <p:nvSpPr>
                  <p:cNvPr id="53" name="Рамка 52"/>
                  <p:cNvSpPr/>
                  <p:nvPr/>
                </p:nvSpPr>
                <p:spPr>
                  <a:xfrm>
                    <a:off x="4105595" y="873658"/>
                    <a:ext cx="371192" cy="389299"/>
                  </a:xfrm>
                  <a:prstGeom prst="fram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ru-RU" sz="1000" spc="-150" dirty="0">
                        <a:solidFill>
                          <a:schemeClr val="tx1"/>
                        </a:solidFill>
                        <a:cs typeface="Times New Roman" panose="02020603050405020304" pitchFamily="18" charset="0"/>
                      </a:rPr>
                      <a:t>5</a:t>
                    </a:r>
                  </a:p>
                </p:txBody>
              </p:sp>
              <p:sp>
                <p:nvSpPr>
                  <p:cNvPr id="54" name="Рамка 53"/>
                  <p:cNvSpPr/>
                  <p:nvPr/>
                </p:nvSpPr>
                <p:spPr>
                  <a:xfrm>
                    <a:off x="4504555" y="873658"/>
                    <a:ext cx="371192" cy="389299"/>
                  </a:xfrm>
                  <a:prstGeom prst="fram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ru-RU" sz="1000" spc="-150" dirty="0">
                        <a:solidFill>
                          <a:schemeClr val="tx1"/>
                        </a:solidFill>
                        <a:cs typeface="Times New Roman" panose="02020603050405020304" pitchFamily="18" charset="0"/>
                      </a:rPr>
                      <a:t>6</a:t>
                    </a:r>
                  </a:p>
                </p:txBody>
              </p:sp>
              <p:sp>
                <p:nvSpPr>
                  <p:cNvPr id="55" name="Рамка 54"/>
                  <p:cNvSpPr/>
                  <p:nvPr/>
                </p:nvSpPr>
                <p:spPr>
                  <a:xfrm>
                    <a:off x="4903515" y="873658"/>
                    <a:ext cx="371192" cy="389299"/>
                  </a:xfrm>
                  <a:prstGeom prst="fram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ru-RU" sz="1000" spc="-150" dirty="0">
                        <a:solidFill>
                          <a:schemeClr val="tx1"/>
                        </a:solidFill>
                        <a:cs typeface="Times New Roman" panose="02020603050405020304" pitchFamily="18" charset="0"/>
                      </a:rPr>
                      <a:t>7</a:t>
                    </a:r>
                  </a:p>
                </p:txBody>
              </p:sp>
              <p:sp>
                <p:nvSpPr>
                  <p:cNvPr id="56" name="Рамка 55"/>
                  <p:cNvSpPr/>
                  <p:nvPr/>
                </p:nvSpPr>
                <p:spPr>
                  <a:xfrm>
                    <a:off x="5302475" y="873658"/>
                    <a:ext cx="371192" cy="389299"/>
                  </a:xfrm>
                  <a:prstGeom prst="fram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ru-RU" sz="1000" spc="-150" dirty="0">
                        <a:solidFill>
                          <a:schemeClr val="tx1"/>
                        </a:solidFill>
                        <a:cs typeface="Times New Roman" panose="02020603050405020304" pitchFamily="18" charset="0"/>
                      </a:rPr>
                      <a:t>8</a:t>
                    </a:r>
                  </a:p>
                </p:txBody>
              </p:sp>
              <p:sp>
                <p:nvSpPr>
                  <p:cNvPr id="57" name="Рамка 56"/>
                  <p:cNvSpPr/>
                  <p:nvPr/>
                </p:nvSpPr>
                <p:spPr>
                  <a:xfrm>
                    <a:off x="5701435" y="873658"/>
                    <a:ext cx="371192" cy="389299"/>
                  </a:xfrm>
                  <a:prstGeom prst="fram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ru-RU" sz="1000" spc="-150" dirty="0">
                        <a:solidFill>
                          <a:schemeClr val="tx1"/>
                        </a:solidFill>
                        <a:cs typeface="Times New Roman" panose="02020603050405020304" pitchFamily="18" charset="0"/>
                      </a:rPr>
                      <a:t>9</a:t>
                    </a:r>
                  </a:p>
                </p:txBody>
              </p:sp>
              <p:sp>
                <p:nvSpPr>
                  <p:cNvPr id="58" name="Рамка 57"/>
                  <p:cNvSpPr/>
                  <p:nvPr/>
                </p:nvSpPr>
                <p:spPr>
                  <a:xfrm>
                    <a:off x="6100395" y="873658"/>
                    <a:ext cx="371192" cy="389299"/>
                  </a:xfrm>
                  <a:prstGeom prst="fram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ru-RU" sz="1000" spc="-150" dirty="0">
                        <a:solidFill>
                          <a:schemeClr val="tx1"/>
                        </a:solidFill>
                        <a:cs typeface="Times New Roman" panose="02020603050405020304" pitchFamily="18" charset="0"/>
                      </a:rPr>
                      <a:t>10</a:t>
                    </a:r>
                  </a:p>
                </p:txBody>
              </p:sp>
              <p:sp>
                <p:nvSpPr>
                  <p:cNvPr id="59" name="Рамка 58"/>
                  <p:cNvSpPr/>
                  <p:nvPr/>
                </p:nvSpPr>
                <p:spPr>
                  <a:xfrm>
                    <a:off x="6499355" y="873658"/>
                    <a:ext cx="371192" cy="389299"/>
                  </a:xfrm>
                  <a:prstGeom prst="fram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ru-RU" sz="1000" spc="-150" dirty="0">
                        <a:solidFill>
                          <a:schemeClr val="tx1"/>
                        </a:solidFill>
                        <a:cs typeface="Times New Roman" panose="02020603050405020304" pitchFamily="18" charset="0"/>
                      </a:rPr>
                      <a:t>11</a:t>
                    </a:r>
                  </a:p>
                </p:txBody>
              </p:sp>
              <p:sp>
                <p:nvSpPr>
                  <p:cNvPr id="60" name="Рамка 59"/>
                  <p:cNvSpPr/>
                  <p:nvPr/>
                </p:nvSpPr>
                <p:spPr>
                  <a:xfrm>
                    <a:off x="6898315" y="873658"/>
                    <a:ext cx="371192" cy="389299"/>
                  </a:xfrm>
                  <a:prstGeom prst="fram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ru-RU" sz="1000" spc="-150" dirty="0">
                        <a:solidFill>
                          <a:schemeClr val="tx1"/>
                        </a:solidFill>
                        <a:cs typeface="Times New Roman" panose="02020603050405020304" pitchFamily="18" charset="0"/>
                      </a:rPr>
                      <a:t>12</a:t>
                    </a:r>
                  </a:p>
                </p:txBody>
              </p:sp>
              <p:sp>
                <p:nvSpPr>
                  <p:cNvPr id="61" name="Рамка 60"/>
                  <p:cNvSpPr/>
                  <p:nvPr/>
                </p:nvSpPr>
                <p:spPr>
                  <a:xfrm>
                    <a:off x="7297275" y="873658"/>
                    <a:ext cx="371192" cy="389299"/>
                  </a:xfrm>
                  <a:prstGeom prst="fram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ru-RU" sz="1000" spc="-150" dirty="0">
                        <a:solidFill>
                          <a:schemeClr val="tx1"/>
                        </a:solidFill>
                        <a:cs typeface="Times New Roman" panose="02020603050405020304" pitchFamily="18" charset="0"/>
                      </a:rPr>
                      <a:t>1</a:t>
                    </a:r>
                    <a:r>
                      <a:rPr lang="en-US" sz="1000" spc="-150" dirty="0">
                        <a:solidFill>
                          <a:schemeClr val="tx1"/>
                        </a:solidFill>
                        <a:cs typeface="Times New Roman" panose="02020603050405020304" pitchFamily="18" charset="0"/>
                      </a:rPr>
                      <a:t>3</a:t>
                    </a:r>
                    <a:endParaRPr lang="ru-RU" sz="1000" spc="-150" dirty="0">
                      <a:solidFill>
                        <a:schemeClr val="tx1"/>
                      </a:solidFill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2" name="Рамка 61"/>
                  <p:cNvSpPr/>
                  <p:nvPr/>
                </p:nvSpPr>
                <p:spPr>
                  <a:xfrm>
                    <a:off x="7696235" y="873658"/>
                    <a:ext cx="371192" cy="389299"/>
                  </a:xfrm>
                  <a:prstGeom prst="fram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ru-RU" sz="1000" spc="-150" dirty="0">
                        <a:solidFill>
                          <a:schemeClr val="tx1"/>
                        </a:solidFill>
                        <a:cs typeface="Times New Roman" panose="02020603050405020304" pitchFamily="18" charset="0"/>
                      </a:rPr>
                      <a:t>14</a:t>
                    </a:r>
                  </a:p>
                </p:txBody>
              </p:sp>
              <p:sp>
                <p:nvSpPr>
                  <p:cNvPr id="63" name="Рамка 62"/>
                  <p:cNvSpPr/>
                  <p:nvPr/>
                </p:nvSpPr>
                <p:spPr>
                  <a:xfrm>
                    <a:off x="8095195" y="873658"/>
                    <a:ext cx="371192" cy="389299"/>
                  </a:xfrm>
                  <a:prstGeom prst="fram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ru-RU" sz="1000" spc="-150" dirty="0">
                        <a:solidFill>
                          <a:schemeClr val="tx1"/>
                        </a:solidFill>
                        <a:cs typeface="Times New Roman" panose="02020603050405020304" pitchFamily="18" charset="0"/>
                      </a:rPr>
                      <a:t>15</a:t>
                    </a:r>
                  </a:p>
                </p:txBody>
              </p:sp>
              <p:sp>
                <p:nvSpPr>
                  <p:cNvPr id="64" name="Рамка 63"/>
                  <p:cNvSpPr/>
                  <p:nvPr/>
                </p:nvSpPr>
                <p:spPr>
                  <a:xfrm>
                    <a:off x="8491236" y="873658"/>
                    <a:ext cx="371192" cy="389299"/>
                  </a:xfrm>
                  <a:prstGeom prst="fram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ru-RU" sz="1000" spc="-150" dirty="0">
                        <a:solidFill>
                          <a:schemeClr val="tx1"/>
                        </a:solidFill>
                        <a:cs typeface="Times New Roman" panose="02020603050405020304" pitchFamily="18" charset="0"/>
                      </a:rPr>
                      <a:t>16</a:t>
                    </a:r>
                  </a:p>
                </p:txBody>
              </p:sp>
              <p:sp>
                <p:nvSpPr>
                  <p:cNvPr id="65" name="Рамка 64"/>
                  <p:cNvSpPr/>
                  <p:nvPr/>
                </p:nvSpPr>
                <p:spPr>
                  <a:xfrm>
                    <a:off x="8890196" y="873658"/>
                    <a:ext cx="371192" cy="389299"/>
                  </a:xfrm>
                  <a:prstGeom prst="fram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ru-RU" sz="1000" spc="-150" dirty="0">
                        <a:solidFill>
                          <a:schemeClr val="tx1"/>
                        </a:solidFill>
                        <a:cs typeface="Times New Roman" panose="02020603050405020304" pitchFamily="18" charset="0"/>
                      </a:rPr>
                      <a:t>17</a:t>
                    </a:r>
                  </a:p>
                </p:txBody>
              </p:sp>
              <p:sp>
                <p:nvSpPr>
                  <p:cNvPr id="66" name="Рамка 65"/>
                  <p:cNvSpPr/>
                  <p:nvPr/>
                </p:nvSpPr>
                <p:spPr>
                  <a:xfrm>
                    <a:off x="9289156" y="873658"/>
                    <a:ext cx="371192" cy="389299"/>
                  </a:xfrm>
                  <a:prstGeom prst="fram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ru-RU" sz="1000" spc="-150" dirty="0">
                        <a:solidFill>
                          <a:schemeClr val="tx1"/>
                        </a:solidFill>
                        <a:cs typeface="Times New Roman" panose="02020603050405020304" pitchFamily="18" charset="0"/>
                      </a:rPr>
                      <a:t>18</a:t>
                    </a:r>
                  </a:p>
                </p:txBody>
              </p:sp>
              <p:sp>
                <p:nvSpPr>
                  <p:cNvPr id="67" name="Рамка 66"/>
                  <p:cNvSpPr/>
                  <p:nvPr/>
                </p:nvSpPr>
                <p:spPr>
                  <a:xfrm>
                    <a:off x="9688116" y="873656"/>
                    <a:ext cx="371192" cy="389299"/>
                  </a:xfrm>
                  <a:prstGeom prst="fram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ru-RU" sz="1000" spc="-150" dirty="0">
                        <a:solidFill>
                          <a:schemeClr val="tx1"/>
                        </a:solidFill>
                        <a:cs typeface="Times New Roman" panose="02020603050405020304" pitchFamily="18" charset="0"/>
                      </a:rPr>
                      <a:t>19</a:t>
                    </a:r>
                  </a:p>
                </p:txBody>
              </p:sp>
              <p:sp>
                <p:nvSpPr>
                  <p:cNvPr id="68" name="Рамка 67"/>
                  <p:cNvSpPr/>
                  <p:nvPr/>
                </p:nvSpPr>
                <p:spPr>
                  <a:xfrm>
                    <a:off x="10084157" y="873655"/>
                    <a:ext cx="371192" cy="389299"/>
                  </a:xfrm>
                  <a:prstGeom prst="fram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ru-RU" sz="1000" spc="-150" dirty="0">
                        <a:solidFill>
                          <a:schemeClr val="tx1"/>
                        </a:solidFill>
                        <a:cs typeface="Times New Roman" panose="02020603050405020304" pitchFamily="18" charset="0"/>
                      </a:rPr>
                      <a:t>20</a:t>
                    </a:r>
                  </a:p>
                </p:txBody>
              </p:sp>
              <p:sp>
                <p:nvSpPr>
                  <p:cNvPr id="69" name="Рамка 68"/>
                  <p:cNvSpPr/>
                  <p:nvPr/>
                </p:nvSpPr>
                <p:spPr>
                  <a:xfrm>
                    <a:off x="2109358" y="873654"/>
                    <a:ext cx="371192" cy="389299"/>
                  </a:xfrm>
                  <a:prstGeom prst="fram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ru-RU" sz="1000" spc="-150" dirty="0">
                        <a:solidFill>
                          <a:schemeClr val="tx1"/>
                        </a:solidFill>
                        <a:cs typeface="Times New Roman" panose="02020603050405020304" pitchFamily="18" charset="0"/>
                      </a:rPr>
                      <a:t>0</a:t>
                    </a:r>
                  </a:p>
                </p:txBody>
              </p:sp>
            </p:grpSp>
            <p:sp>
              <p:nvSpPr>
                <p:cNvPr id="48" name="Блок-схема: процесс 47"/>
                <p:cNvSpPr/>
                <p:nvPr/>
              </p:nvSpPr>
              <p:spPr>
                <a:xfrm>
                  <a:off x="2722376" y="2992579"/>
                  <a:ext cx="6352673" cy="369686"/>
                </a:xfrm>
                <a:prstGeom prst="flowChartProcess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Array[4]</a:t>
                  </a:r>
                  <a:endParaRPr lang="ru-RU" dirty="0"/>
                </a:p>
              </p:txBody>
            </p:sp>
          </p:grpSp>
          <p:grpSp>
            <p:nvGrpSpPr>
              <p:cNvPr id="13" name="Группа 12"/>
              <p:cNvGrpSpPr/>
              <p:nvPr/>
            </p:nvGrpSpPr>
            <p:grpSpPr>
              <a:xfrm>
                <a:off x="357867" y="4429138"/>
                <a:ext cx="8345991" cy="1146694"/>
                <a:chOff x="1985063" y="4022007"/>
                <a:chExt cx="8345991" cy="1146694"/>
              </a:xfrm>
            </p:grpSpPr>
            <p:grpSp>
              <p:nvGrpSpPr>
                <p:cNvPr id="14" name="Группа 13"/>
                <p:cNvGrpSpPr/>
                <p:nvPr/>
              </p:nvGrpSpPr>
              <p:grpSpPr>
                <a:xfrm>
                  <a:off x="1985063" y="4399729"/>
                  <a:ext cx="8345991" cy="768972"/>
                  <a:chOff x="1923391" y="3331722"/>
                  <a:chExt cx="8345991" cy="768972"/>
                </a:xfrm>
              </p:grpSpPr>
              <p:sp>
                <p:nvSpPr>
                  <p:cNvPr id="17" name="Блок-схема: процесс 16"/>
                  <p:cNvSpPr/>
                  <p:nvPr/>
                </p:nvSpPr>
                <p:spPr>
                  <a:xfrm>
                    <a:off x="2723119" y="3331722"/>
                    <a:ext cx="366465" cy="369686"/>
                  </a:xfrm>
                  <a:prstGeom prst="flowChartProcess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0</a:t>
                    </a:r>
                    <a:endParaRPr lang="ru-RU" dirty="0"/>
                  </a:p>
                </p:txBody>
              </p:sp>
              <p:sp>
                <p:nvSpPr>
                  <p:cNvPr id="18" name="Блок-схема: процесс 17"/>
                  <p:cNvSpPr/>
                  <p:nvPr/>
                </p:nvSpPr>
                <p:spPr>
                  <a:xfrm>
                    <a:off x="3121708" y="3331722"/>
                    <a:ext cx="371192" cy="369686"/>
                  </a:xfrm>
                  <a:prstGeom prst="flowChartProcess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1</a:t>
                    </a:r>
                    <a:endParaRPr lang="ru-RU" dirty="0"/>
                  </a:p>
                </p:txBody>
              </p:sp>
              <p:sp>
                <p:nvSpPr>
                  <p:cNvPr id="19" name="Блок-схема: процесс 18"/>
                  <p:cNvSpPr/>
                  <p:nvPr/>
                </p:nvSpPr>
                <p:spPr>
                  <a:xfrm>
                    <a:off x="3520668" y="3331722"/>
                    <a:ext cx="1568072" cy="369686"/>
                  </a:xfrm>
                  <a:prstGeom prst="flowChartProcess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2</a:t>
                    </a:r>
                    <a:endParaRPr lang="ru-RU" dirty="0"/>
                  </a:p>
                </p:txBody>
              </p:sp>
              <p:sp>
                <p:nvSpPr>
                  <p:cNvPr id="20" name="Блок-схема: процесс 19"/>
                  <p:cNvSpPr/>
                  <p:nvPr/>
                </p:nvSpPr>
                <p:spPr>
                  <a:xfrm>
                    <a:off x="5120149" y="3331722"/>
                    <a:ext cx="3160271" cy="369686"/>
                  </a:xfrm>
                  <a:prstGeom prst="flowChartProcess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3</a:t>
                    </a:r>
                    <a:endParaRPr lang="ru-RU" dirty="0"/>
                  </a:p>
                </p:txBody>
              </p:sp>
              <p:grpSp>
                <p:nvGrpSpPr>
                  <p:cNvPr id="21" name="Группа 20"/>
                  <p:cNvGrpSpPr/>
                  <p:nvPr/>
                </p:nvGrpSpPr>
                <p:grpSpPr>
                  <a:xfrm>
                    <a:off x="1923391" y="3711391"/>
                    <a:ext cx="8345991" cy="389303"/>
                    <a:chOff x="2109358" y="873654"/>
                    <a:chExt cx="8345991" cy="389303"/>
                  </a:xfrm>
                </p:grpSpPr>
                <p:sp>
                  <p:nvSpPr>
                    <p:cNvPr id="22" name="Рамка 21"/>
                    <p:cNvSpPr/>
                    <p:nvPr/>
                  </p:nvSpPr>
                  <p:spPr>
                    <a:xfrm>
                      <a:off x="2509755" y="873658"/>
                      <a:ext cx="371192" cy="389299"/>
                    </a:xfrm>
                    <a:prstGeom prst="frame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ru-RU" sz="1000" spc="-150" dirty="0">
                          <a:solidFill>
                            <a:schemeClr val="tx1"/>
                          </a:solidFill>
                          <a:cs typeface="Times New Roman" panose="02020603050405020304" pitchFamily="18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23" name="Рамка 22"/>
                    <p:cNvSpPr/>
                    <p:nvPr/>
                  </p:nvSpPr>
                  <p:spPr>
                    <a:xfrm>
                      <a:off x="2908715" y="873658"/>
                      <a:ext cx="371192" cy="389299"/>
                    </a:xfrm>
                    <a:prstGeom prst="frame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ru-RU" sz="1000" spc="-150" dirty="0">
                          <a:solidFill>
                            <a:schemeClr val="tx1"/>
                          </a:solidFill>
                          <a:cs typeface="Times New Roman" panose="02020603050405020304" pitchFamily="18" charset="0"/>
                        </a:rPr>
                        <a:t>2</a:t>
                      </a:r>
                    </a:p>
                  </p:txBody>
                </p:sp>
                <p:sp>
                  <p:nvSpPr>
                    <p:cNvPr id="24" name="Рамка 23"/>
                    <p:cNvSpPr/>
                    <p:nvPr/>
                  </p:nvSpPr>
                  <p:spPr>
                    <a:xfrm>
                      <a:off x="3307675" y="873658"/>
                      <a:ext cx="371192" cy="389299"/>
                    </a:xfrm>
                    <a:prstGeom prst="frame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ru-RU" sz="1000" spc="-150" dirty="0">
                          <a:solidFill>
                            <a:schemeClr val="tx1"/>
                          </a:solidFill>
                          <a:cs typeface="Times New Roman" panose="02020603050405020304" pitchFamily="18" charset="0"/>
                        </a:rPr>
                        <a:t>3</a:t>
                      </a:r>
                    </a:p>
                  </p:txBody>
                </p:sp>
                <p:sp>
                  <p:nvSpPr>
                    <p:cNvPr id="25" name="Рамка 24"/>
                    <p:cNvSpPr/>
                    <p:nvPr/>
                  </p:nvSpPr>
                  <p:spPr>
                    <a:xfrm>
                      <a:off x="3706635" y="873658"/>
                      <a:ext cx="371192" cy="389299"/>
                    </a:xfrm>
                    <a:prstGeom prst="frame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ru-RU" sz="1000" spc="-150" dirty="0">
                          <a:solidFill>
                            <a:schemeClr val="tx1"/>
                          </a:solidFill>
                          <a:cs typeface="Times New Roman" panose="02020603050405020304" pitchFamily="18" charset="0"/>
                        </a:rPr>
                        <a:t>4</a:t>
                      </a:r>
                    </a:p>
                  </p:txBody>
                </p:sp>
                <p:sp>
                  <p:nvSpPr>
                    <p:cNvPr id="26" name="Рамка 25"/>
                    <p:cNvSpPr/>
                    <p:nvPr/>
                  </p:nvSpPr>
                  <p:spPr>
                    <a:xfrm>
                      <a:off x="4105595" y="873658"/>
                      <a:ext cx="371192" cy="389299"/>
                    </a:xfrm>
                    <a:prstGeom prst="frame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ru-RU" sz="1000" spc="-150" dirty="0">
                          <a:solidFill>
                            <a:schemeClr val="tx1"/>
                          </a:solidFill>
                          <a:cs typeface="Times New Roman" panose="02020603050405020304" pitchFamily="18" charset="0"/>
                        </a:rPr>
                        <a:t>5</a:t>
                      </a:r>
                    </a:p>
                  </p:txBody>
                </p:sp>
                <p:sp>
                  <p:nvSpPr>
                    <p:cNvPr id="27" name="Рамка 26"/>
                    <p:cNvSpPr/>
                    <p:nvPr/>
                  </p:nvSpPr>
                  <p:spPr>
                    <a:xfrm>
                      <a:off x="4504555" y="873658"/>
                      <a:ext cx="371192" cy="389299"/>
                    </a:xfrm>
                    <a:prstGeom prst="frame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ru-RU" sz="1000" spc="-150" dirty="0">
                          <a:solidFill>
                            <a:schemeClr val="tx1"/>
                          </a:solidFill>
                          <a:cs typeface="Times New Roman" panose="02020603050405020304" pitchFamily="18" charset="0"/>
                        </a:rPr>
                        <a:t>6</a:t>
                      </a:r>
                    </a:p>
                  </p:txBody>
                </p:sp>
                <p:sp>
                  <p:nvSpPr>
                    <p:cNvPr id="28" name="Рамка 27"/>
                    <p:cNvSpPr/>
                    <p:nvPr/>
                  </p:nvSpPr>
                  <p:spPr>
                    <a:xfrm>
                      <a:off x="4903515" y="873658"/>
                      <a:ext cx="371192" cy="389299"/>
                    </a:xfrm>
                    <a:prstGeom prst="frame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ru-RU" sz="1000" spc="-150" dirty="0">
                          <a:solidFill>
                            <a:schemeClr val="tx1"/>
                          </a:solidFill>
                          <a:cs typeface="Times New Roman" panose="02020603050405020304" pitchFamily="18" charset="0"/>
                        </a:rPr>
                        <a:t>7</a:t>
                      </a:r>
                    </a:p>
                  </p:txBody>
                </p:sp>
                <p:sp>
                  <p:nvSpPr>
                    <p:cNvPr id="29" name="Рамка 28"/>
                    <p:cNvSpPr/>
                    <p:nvPr/>
                  </p:nvSpPr>
                  <p:spPr>
                    <a:xfrm>
                      <a:off x="5302475" y="873658"/>
                      <a:ext cx="371192" cy="389299"/>
                    </a:xfrm>
                    <a:prstGeom prst="frame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ru-RU" sz="1000" spc="-150" dirty="0">
                          <a:solidFill>
                            <a:schemeClr val="tx1"/>
                          </a:solidFill>
                          <a:cs typeface="Times New Roman" panose="02020603050405020304" pitchFamily="18" charset="0"/>
                        </a:rPr>
                        <a:t>8</a:t>
                      </a:r>
                    </a:p>
                  </p:txBody>
                </p:sp>
                <p:sp>
                  <p:nvSpPr>
                    <p:cNvPr id="30" name="Рамка 29"/>
                    <p:cNvSpPr/>
                    <p:nvPr/>
                  </p:nvSpPr>
                  <p:spPr>
                    <a:xfrm>
                      <a:off x="5701435" y="873658"/>
                      <a:ext cx="371192" cy="389299"/>
                    </a:xfrm>
                    <a:prstGeom prst="frame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ru-RU" sz="1000" spc="-150" dirty="0">
                          <a:solidFill>
                            <a:schemeClr val="tx1"/>
                          </a:solidFill>
                          <a:cs typeface="Times New Roman" panose="02020603050405020304" pitchFamily="18" charset="0"/>
                        </a:rPr>
                        <a:t>9</a:t>
                      </a:r>
                    </a:p>
                  </p:txBody>
                </p:sp>
                <p:sp>
                  <p:nvSpPr>
                    <p:cNvPr id="31" name="Рамка 30"/>
                    <p:cNvSpPr/>
                    <p:nvPr/>
                  </p:nvSpPr>
                  <p:spPr>
                    <a:xfrm>
                      <a:off x="6100395" y="873658"/>
                      <a:ext cx="371192" cy="389299"/>
                    </a:xfrm>
                    <a:prstGeom prst="frame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ru-RU" sz="1000" spc="-150" dirty="0">
                          <a:solidFill>
                            <a:schemeClr val="tx1"/>
                          </a:solidFill>
                          <a:cs typeface="Times New Roman" panose="02020603050405020304" pitchFamily="18" charset="0"/>
                        </a:rPr>
                        <a:t>10</a:t>
                      </a:r>
                    </a:p>
                  </p:txBody>
                </p:sp>
                <p:sp>
                  <p:nvSpPr>
                    <p:cNvPr id="32" name="Рамка 31"/>
                    <p:cNvSpPr/>
                    <p:nvPr/>
                  </p:nvSpPr>
                  <p:spPr>
                    <a:xfrm>
                      <a:off x="6499355" y="873658"/>
                      <a:ext cx="371192" cy="389299"/>
                    </a:xfrm>
                    <a:prstGeom prst="frame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ru-RU" sz="1000" spc="-150" dirty="0">
                          <a:solidFill>
                            <a:schemeClr val="tx1"/>
                          </a:solidFill>
                          <a:cs typeface="Times New Roman" panose="02020603050405020304" pitchFamily="18" charset="0"/>
                        </a:rPr>
                        <a:t>11</a:t>
                      </a:r>
                    </a:p>
                  </p:txBody>
                </p:sp>
                <p:sp>
                  <p:nvSpPr>
                    <p:cNvPr id="33" name="Рамка 32"/>
                    <p:cNvSpPr/>
                    <p:nvPr/>
                  </p:nvSpPr>
                  <p:spPr>
                    <a:xfrm>
                      <a:off x="6898315" y="873658"/>
                      <a:ext cx="371192" cy="389299"/>
                    </a:xfrm>
                    <a:prstGeom prst="frame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ru-RU" sz="1000" spc="-150" dirty="0">
                          <a:solidFill>
                            <a:schemeClr val="tx1"/>
                          </a:solidFill>
                          <a:cs typeface="Times New Roman" panose="02020603050405020304" pitchFamily="18" charset="0"/>
                        </a:rPr>
                        <a:t>12</a:t>
                      </a:r>
                    </a:p>
                  </p:txBody>
                </p:sp>
                <p:sp>
                  <p:nvSpPr>
                    <p:cNvPr id="34" name="Рамка 33"/>
                    <p:cNvSpPr/>
                    <p:nvPr/>
                  </p:nvSpPr>
                  <p:spPr>
                    <a:xfrm>
                      <a:off x="7297275" y="873658"/>
                      <a:ext cx="371192" cy="389299"/>
                    </a:xfrm>
                    <a:prstGeom prst="frame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ru-RU" sz="1000" spc="-150" dirty="0">
                          <a:solidFill>
                            <a:schemeClr val="tx1"/>
                          </a:solidFill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000" spc="-150" dirty="0">
                          <a:solidFill>
                            <a:schemeClr val="tx1"/>
                          </a:solidFill>
                          <a:cs typeface="Times New Roman" panose="02020603050405020304" pitchFamily="18" charset="0"/>
                        </a:rPr>
                        <a:t>3</a:t>
                      </a:r>
                      <a:endParaRPr lang="ru-RU" sz="1000" spc="-150" dirty="0">
                        <a:solidFill>
                          <a:schemeClr val="tx1"/>
                        </a:solidFill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5" name="Рамка 34"/>
                    <p:cNvSpPr/>
                    <p:nvPr/>
                  </p:nvSpPr>
                  <p:spPr>
                    <a:xfrm>
                      <a:off x="7696235" y="873658"/>
                      <a:ext cx="371192" cy="389299"/>
                    </a:xfrm>
                    <a:prstGeom prst="frame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ru-RU" sz="1000" spc="-150" dirty="0">
                          <a:solidFill>
                            <a:schemeClr val="tx1"/>
                          </a:solidFill>
                          <a:cs typeface="Times New Roman" panose="02020603050405020304" pitchFamily="18" charset="0"/>
                        </a:rPr>
                        <a:t>14</a:t>
                      </a:r>
                    </a:p>
                  </p:txBody>
                </p:sp>
                <p:sp>
                  <p:nvSpPr>
                    <p:cNvPr id="36" name="Рамка 35"/>
                    <p:cNvSpPr/>
                    <p:nvPr/>
                  </p:nvSpPr>
                  <p:spPr>
                    <a:xfrm>
                      <a:off x="8095195" y="873658"/>
                      <a:ext cx="371192" cy="389299"/>
                    </a:xfrm>
                    <a:prstGeom prst="frame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ru-RU" sz="1000" spc="-150" dirty="0">
                          <a:solidFill>
                            <a:schemeClr val="tx1"/>
                          </a:solidFill>
                          <a:cs typeface="Times New Roman" panose="02020603050405020304" pitchFamily="18" charset="0"/>
                        </a:rPr>
                        <a:t>15</a:t>
                      </a:r>
                    </a:p>
                  </p:txBody>
                </p:sp>
                <p:sp>
                  <p:nvSpPr>
                    <p:cNvPr id="37" name="Рамка 36"/>
                    <p:cNvSpPr/>
                    <p:nvPr/>
                  </p:nvSpPr>
                  <p:spPr>
                    <a:xfrm>
                      <a:off x="8491236" y="873658"/>
                      <a:ext cx="371192" cy="389299"/>
                    </a:xfrm>
                    <a:prstGeom prst="frame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ru-RU" sz="1000" spc="-150" dirty="0">
                          <a:solidFill>
                            <a:schemeClr val="tx1"/>
                          </a:solidFill>
                          <a:cs typeface="Times New Roman" panose="02020603050405020304" pitchFamily="18" charset="0"/>
                        </a:rPr>
                        <a:t>16</a:t>
                      </a:r>
                    </a:p>
                  </p:txBody>
                </p:sp>
                <p:sp>
                  <p:nvSpPr>
                    <p:cNvPr id="38" name="Рамка 37"/>
                    <p:cNvSpPr/>
                    <p:nvPr/>
                  </p:nvSpPr>
                  <p:spPr>
                    <a:xfrm>
                      <a:off x="8890196" y="873658"/>
                      <a:ext cx="371192" cy="389299"/>
                    </a:xfrm>
                    <a:prstGeom prst="frame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ru-RU" sz="1000" spc="-150" dirty="0">
                          <a:solidFill>
                            <a:schemeClr val="tx1"/>
                          </a:solidFill>
                          <a:cs typeface="Times New Roman" panose="02020603050405020304" pitchFamily="18" charset="0"/>
                        </a:rPr>
                        <a:t>17</a:t>
                      </a:r>
                    </a:p>
                  </p:txBody>
                </p:sp>
                <p:sp>
                  <p:nvSpPr>
                    <p:cNvPr id="39" name="Рамка 38"/>
                    <p:cNvSpPr/>
                    <p:nvPr/>
                  </p:nvSpPr>
                  <p:spPr>
                    <a:xfrm>
                      <a:off x="9289156" y="873658"/>
                      <a:ext cx="371192" cy="389299"/>
                    </a:xfrm>
                    <a:prstGeom prst="frame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ru-RU" sz="1000" spc="-150" dirty="0">
                          <a:solidFill>
                            <a:schemeClr val="tx1"/>
                          </a:solidFill>
                          <a:cs typeface="Times New Roman" panose="02020603050405020304" pitchFamily="18" charset="0"/>
                        </a:rPr>
                        <a:t>18</a:t>
                      </a:r>
                    </a:p>
                  </p:txBody>
                </p:sp>
                <p:sp>
                  <p:nvSpPr>
                    <p:cNvPr id="40" name="Рамка 39"/>
                    <p:cNvSpPr/>
                    <p:nvPr/>
                  </p:nvSpPr>
                  <p:spPr>
                    <a:xfrm>
                      <a:off x="9688116" y="873656"/>
                      <a:ext cx="371192" cy="389299"/>
                    </a:xfrm>
                    <a:prstGeom prst="frame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ru-RU" sz="1000" spc="-150" dirty="0">
                          <a:solidFill>
                            <a:schemeClr val="tx1"/>
                          </a:solidFill>
                          <a:cs typeface="Times New Roman" panose="02020603050405020304" pitchFamily="18" charset="0"/>
                        </a:rPr>
                        <a:t>19</a:t>
                      </a:r>
                    </a:p>
                  </p:txBody>
                </p:sp>
                <p:sp>
                  <p:nvSpPr>
                    <p:cNvPr id="41" name="Рамка 40"/>
                    <p:cNvSpPr/>
                    <p:nvPr/>
                  </p:nvSpPr>
                  <p:spPr>
                    <a:xfrm>
                      <a:off x="10084157" y="873655"/>
                      <a:ext cx="371192" cy="389299"/>
                    </a:xfrm>
                    <a:prstGeom prst="frame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ru-RU" sz="1000" spc="-150" dirty="0">
                          <a:solidFill>
                            <a:schemeClr val="tx1"/>
                          </a:solidFill>
                          <a:cs typeface="Times New Roman" panose="02020603050405020304" pitchFamily="18" charset="0"/>
                        </a:rPr>
                        <a:t>20</a:t>
                      </a:r>
                    </a:p>
                  </p:txBody>
                </p:sp>
                <p:sp>
                  <p:nvSpPr>
                    <p:cNvPr id="42" name="Рамка 41"/>
                    <p:cNvSpPr/>
                    <p:nvPr/>
                  </p:nvSpPr>
                  <p:spPr>
                    <a:xfrm>
                      <a:off x="2109358" y="873654"/>
                      <a:ext cx="371192" cy="389299"/>
                    </a:xfrm>
                    <a:prstGeom prst="frame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ru-RU" sz="1000" spc="-150" dirty="0">
                          <a:solidFill>
                            <a:schemeClr val="tx1"/>
                          </a:solidFill>
                          <a:cs typeface="Times New Roman" panose="02020603050405020304" pitchFamily="18" charset="0"/>
                        </a:rPr>
                        <a:t>0</a:t>
                      </a:r>
                    </a:p>
                  </p:txBody>
                </p:sp>
              </p:grpSp>
            </p:grpSp>
            <p:sp>
              <p:nvSpPr>
                <p:cNvPr id="15" name="Блок-схема: процесс 14"/>
                <p:cNvSpPr/>
                <p:nvPr/>
              </p:nvSpPr>
              <p:spPr>
                <a:xfrm>
                  <a:off x="2784420" y="4022007"/>
                  <a:ext cx="6352673" cy="369686"/>
                </a:xfrm>
                <a:prstGeom prst="flowChartProcess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err="1"/>
                    <a:t>Struct</a:t>
                  </a:r>
                  <a:r>
                    <a:rPr lang="en-US" dirty="0"/>
                    <a:t>{char, bool, </a:t>
                  </a:r>
                  <a:r>
                    <a:rPr lang="en-US" dirty="0" err="1"/>
                    <a:t>int</a:t>
                  </a:r>
                  <a:r>
                    <a:rPr lang="en-US" dirty="0"/>
                    <a:t>, double, short </a:t>
                  </a:r>
                  <a:r>
                    <a:rPr lang="en-US" dirty="0" err="1"/>
                    <a:t>int</a:t>
                  </a:r>
                  <a:r>
                    <a:rPr lang="en-US" dirty="0"/>
                    <a:t>}</a:t>
                  </a:r>
                  <a:endParaRPr lang="ru-RU" dirty="0"/>
                </a:p>
              </p:txBody>
            </p:sp>
            <p:sp>
              <p:nvSpPr>
                <p:cNvPr id="16" name="Блок-схема: процесс 15"/>
                <p:cNvSpPr/>
                <p:nvPr/>
              </p:nvSpPr>
              <p:spPr>
                <a:xfrm>
                  <a:off x="8366941" y="4399729"/>
                  <a:ext cx="770152" cy="369686"/>
                </a:xfrm>
                <a:prstGeom prst="flowChartProcess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4</a:t>
                  </a:r>
                  <a:endParaRPr lang="ru-RU" dirty="0"/>
                </a:p>
              </p:txBody>
            </p:sp>
          </p:grpSp>
        </p:grpSp>
      </p:grpSp>
      <p:grpSp>
        <p:nvGrpSpPr>
          <p:cNvPr id="70" name="Группа 69"/>
          <p:cNvGrpSpPr/>
          <p:nvPr/>
        </p:nvGrpSpPr>
        <p:grpSpPr>
          <a:xfrm>
            <a:off x="428071" y="1100571"/>
            <a:ext cx="11273088" cy="2862322"/>
            <a:chOff x="306294" y="603434"/>
            <a:chExt cx="11579413" cy="2862322"/>
          </a:xfrm>
        </p:grpSpPr>
        <p:sp>
          <p:nvSpPr>
            <p:cNvPr id="71" name="Прямоугольник 70"/>
            <p:cNvSpPr/>
            <p:nvPr/>
          </p:nvSpPr>
          <p:spPr>
            <a:xfrm>
              <a:off x="306294" y="603434"/>
              <a:ext cx="11579413" cy="28623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dirty="0"/>
                <a:t>Структура является объединением нескольких переменных одним общим именем, при этом каждая из переменных объединенных в структуру доступна для записи и чтения.</a:t>
              </a:r>
              <a:endParaRPr lang="en-US" dirty="0"/>
            </a:p>
            <a:p>
              <a:r>
                <a:rPr lang="ru-RU" dirty="0"/>
                <a:t>Переменные перечисленные в структуре называются полями структуры и доступны для обращения только с использованием структуры.</a:t>
              </a:r>
            </a:p>
            <a:p>
              <a:r>
                <a:rPr lang="ru-RU" dirty="0"/>
                <a:t>Сигнатура</a:t>
              </a:r>
              <a:r>
                <a:rPr lang="en-US" dirty="0"/>
                <a:t>:</a:t>
              </a:r>
              <a:endParaRPr lang="ru-RU" dirty="0"/>
            </a:p>
            <a:p>
              <a:r>
                <a:rPr lang="en-US" dirty="0" err="1">
                  <a:solidFill>
                    <a:srgbClr val="0000FF"/>
                  </a:solidFill>
                </a:rPr>
                <a:t>struct</a:t>
              </a:r>
              <a:r>
                <a:rPr lang="en-US" dirty="0">
                  <a:solidFill>
                    <a:srgbClr val="000000"/>
                  </a:solidFill>
                </a:rPr>
                <a:t> &lt;</a:t>
              </a:r>
              <a:r>
                <a:rPr lang="ru-RU" dirty="0">
                  <a:solidFill>
                    <a:srgbClr val="000000"/>
                  </a:solidFill>
                </a:rPr>
                <a:t>название</a:t>
              </a:r>
              <a:r>
                <a:rPr lang="en-US" dirty="0">
                  <a:solidFill>
                    <a:srgbClr val="000000"/>
                  </a:solidFill>
                </a:rPr>
                <a:t>&gt;{</a:t>
              </a:r>
            </a:p>
            <a:p>
              <a:r>
                <a:rPr lang="en-US" dirty="0">
                  <a:solidFill>
                    <a:srgbClr val="000000"/>
                  </a:solidFill>
                </a:rPr>
                <a:t>    &lt;</a:t>
              </a:r>
              <a:r>
                <a:rPr lang="ru-RU" dirty="0">
                  <a:solidFill>
                    <a:srgbClr val="000000"/>
                  </a:solidFill>
                </a:rPr>
                <a:t>тип поля</a:t>
              </a:r>
              <a:r>
                <a:rPr lang="en-US" dirty="0">
                  <a:solidFill>
                    <a:srgbClr val="000000"/>
                  </a:solidFill>
                </a:rPr>
                <a:t>&gt; &lt;</a:t>
              </a:r>
              <a:r>
                <a:rPr lang="ru-RU" dirty="0">
                  <a:solidFill>
                    <a:srgbClr val="000000"/>
                  </a:solidFill>
                </a:rPr>
                <a:t>имя поля</a:t>
              </a:r>
              <a:r>
                <a:rPr lang="en-US" dirty="0">
                  <a:solidFill>
                    <a:srgbClr val="000000"/>
                  </a:solidFill>
                </a:rPr>
                <a:t>&gt;;</a:t>
              </a:r>
            </a:p>
            <a:p>
              <a:r>
                <a:rPr lang="en-US" dirty="0">
                  <a:solidFill>
                    <a:srgbClr val="000000"/>
                  </a:solidFill>
                </a:rPr>
                <a:t>    // …</a:t>
              </a:r>
            </a:p>
            <a:p>
              <a:r>
                <a:rPr lang="en-US" dirty="0">
                  <a:solidFill>
                    <a:srgbClr val="000000"/>
                  </a:solidFill>
                </a:rPr>
                <a:t>};</a:t>
              </a:r>
            </a:p>
            <a:p>
              <a:endParaRPr lang="ru-RU" dirty="0"/>
            </a:p>
          </p:txBody>
        </p:sp>
        <p:sp>
          <p:nvSpPr>
            <p:cNvPr id="72" name="Прямоугольник 71"/>
            <p:cNvSpPr/>
            <p:nvPr/>
          </p:nvSpPr>
          <p:spPr>
            <a:xfrm>
              <a:off x="3743504" y="1706848"/>
              <a:ext cx="8142203" cy="1754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dirty="0"/>
                <a:t>Создание переменной с типом структуры</a:t>
              </a:r>
              <a:r>
                <a:rPr lang="en-US" dirty="0"/>
                <a:t>:</a:t>
              </a:r>
            </a:p>
            <a:p>
              <a:r>
                <a:rPr lang="en-US" dirty="0"/>
                <a:t>&lt;</a:t>
              </a:r>
              <a:r>
                <a:rPr lang="ru-RU" dirty="0"/>
                <a:t>название структуры</a:t>
              </a:r>
              <a:r>
                <a:rPr lang="en-US" dirty="0"/>
                <a:t>&gt; &lt;</a:t>
              </a:r>
              <a:r>
                <a:rPr lang="ru-RU" dirty="0"/>
                <a:t>имя переменной</a:t>
              </a:r>
              <a:r>
                <a:rPr lang="en-US" dirty="0"/>
                <a:t>&gt;;</a:t>
              </a:r>
            </a:p>
            <a:p>
              <a:r>
                <a:rPr lang="en-US" dirty="0"/>
                <a:t>&lt;</a:t>
              </a:r>
              <a:r>
                <a:rPr lang="ru-RU" dirty="0"/>
                <a:t>название структуры</a:t>
              </a:r>
              <a:r>
                <a:rPr lang="en-US" dirty="0"/>
                <a:t>&gt; &lt;</a:t>
              </a:r>
              <a:r>
                <a:rPr lang="ru-RU" dirty="0"/>
                <a:t>имя переменной</a:t>
              </a:r>
              <a:r>
                <a:rPr lang="en-US" dirty="0"/>
                <a:t>&gt; {&lt;</a:t>
              </a:r>
              <a:r>
                <a:rPr lang="ru-RU" dirty="0"/>
                <a:t>значения полей через запятую</a:t>
              </a:r>
              <a:r>
                <a:rPr lang="en-US" dirty="0"/>
                <a:t>&gt;};</a:t>
              </a:r>
              <a:endParaRPr lang="ru-RU" dirty="0"/>
            </a:p>
            <a:p>
              <a:r>
                <a:rPr lang="ru-RU" dirty="0"/>
                <a:t>Обращение к полям</a:t>
              </a:r>
              <a:r>
                <a:rPr lang="en-US" dirty="0"/>
                <a:t>:</a:t>
              </a:r>
            </a:p>
            <a:p>
              <a:r>
                <a:rPr lang="en-US" dirty="0"/>
                <a:t>&lt;</a:t>
              </a:r>
              <a:r>
                <a:rPr lang="ru-RU" dirty="0"/>
                <a:t>переменная структуры</a:t>
              </a:r>
              <a:r>
                <a:rPr lang="en-US" dirty="0"/>
                <a:t>&gt;.&lt;</a:t>
              </a:r>
              <a:r>
                <a:rPr lang="ru-RU" dirty="0"/>
                <a:t>наименование поля</a:t>
              </a:r>
              <a:r>
                <a:rPr lang="en-US" dirty="0"/>
                <a:t>&gt;;</a:t>
              </a:r>
              <a:endParaRPr lang="ru-RU" dirty="0"/>
            </a:p>
            <a:p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3572571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 структуры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344844" y="1437778"/>
            <a:ext cx="1124440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Person{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string name;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day;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month;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year;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main(){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Person first;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first.name =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1400" dirty="0">
                <a:solidFill>
                  <a:srgbClr val="A31515"/>
                </a:solidFill>
                <a:latin typeface="Consolas" panose="020B0609020204030204" pitchFamily="49" charset="0"/>
              </a:rPr>
              <a:t>Михаил"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first.day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first.month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first.year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1998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1400" dirty="0">
                <a:solidFill>
                  <a:srgbClr val="A31515"/>
                </a:solidFill>
                <a:latin typeface="Consolas" panose="020B0609020204030204" pitchFamily="49" charset="0"/>
              </a:rPr>
              <a:t>Имя: "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first.name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"\n</a:t>
            </a:r>
            <a:r>
              <a:rPr lang="ru-RU" sz="1400" dirty="0">
                <a:solidFill>
                  <a:srgbClr val="A31515"/>
                </a:solidFill>
                <a:latin typeface="Consolas" panose="020B0609020204030204" pitchFamily="49" charset="0"/>
              </a:rPr>
              <a:t>Дата рождения: "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first.day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'.'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first.month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'.'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first.year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  // 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Имя: Михаил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  // Дата рождения: 10.3.1998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Person second {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1400" dirty="0">
                <a:solidFill>
                  <a:srgbClr val="A31515"/>
                </a:solidFill>
                <a:latin typeface="Consolas" panose="020B0609020204030204" pitchFamily="49" charset="0"/>
              </a:rPr>
              <a:t>Дмитрий"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ru-RU" sz="1400" dirty="0">
                <a:solidFill>
                  <a:srgbClr val="098658"/>
                </a:solidFill>
                <a:latin typeface="Consolas" panose="020B0609020204030204" pitchFamily="49" charset="0"/>
              </a:rPr>
              <a:t>12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ru-RU" sz="14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ru-RU" sz="1400" dirty="0">
                <a:solidFill>
                  <a:srgbClr val="098658"/>
                </a:solidFill>
                <a:latin typeface="Consolas" panose="020B0609020204030204" pitchFamily="49" charset="0"/>
              </a:rPr>
              <a:t>1999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1400" dirty="0">
                <a:solidFill>
                  <a:srgbClr val="A31515"/>
                </a:solidFill>
                <a:latin typeface="Consolas" panose="020B0609020204030204" pitchFamily="49" charset="0"/>
              </a:rPr>
              <a:t>Имя: "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second.name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"\n</a:t>
            </a:r>
            <a:r>
              <a:rPr lang="ru-RU" sz="1400" dirty="0">
                <a:solidFill>
                  <a:srgbClr val="A31515"/>
                </a:solidFill>
                <a:latin typeface="Consolas" panose="020B0609020204030204" pitchFamily="49" charset="0"/>
              </a:rPr>
              <a:t>Дата рождения: "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second.day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'.'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second.month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'.'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second.year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  // 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Имя: Дмитрий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  // Дата рождения: 12.5.1999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4037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 структуры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grpSp>
        <p:nvGrpSpPr>
          <p:cNvPr id="9" name="Группа 8"/>
          <p:cNvGrpSpPr/>
          <p:nvPr/>
        </p:nvGrpSpPr>
        <p:grpSpPr>
          <a:xfrm>
            <a:off x="493417" y="1437778"/>
            <a:ext cx="11093513" cy="5047536"/>
            <a:chOff x="540190" y="905232"/>
            <a:chExt cx="11093513" cy="5047536"/>
          </a:xfrm>
        </p:grpSpPr>
        <p:sp>
          <p:nvSpPr>
            <p:cNvPr id="10" name="Прямоугольник 9"/>
            <p:cNvSpPr/>
            <p:nvPr/>
          </p:nvSpPr>
          <p:spPr>
            <a:xfrm>
              <a:off x="540190" y="905232"/>
              <a:ext cx="2426329" cy="50475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enum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Month{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JANUARY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FEBRUARY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MARCH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APRIL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MAY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JUNE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JULY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AUGUST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SEPTEMBER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OCTOBER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NOVEMBER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DECEMBER</a:t>
              </a:r>
              <a:endParaRPr lang="en-US" sz="14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};</a:t>
              </a:r>
            </a:p>
            <a:p>
              <a:r>
                <a:rPr lang="en-US" sz="14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struct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Date{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day;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Month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month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year;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};</a:t>
              </a:r>
            </a:p>
            <a:p>
              <a:r>
                <a:rPr lang="en-US" sz="14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struct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Person{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string name;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Date birth;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};</a:t>
              </a:r>
              <a:endPara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11" name="Прямоугольник 10"/>
            <p:cNvSpPr/>
            <p:nvPr/>
          </p:nvSpPr>
          <p:spPr>
            <a:xfrm>
              <a:off x="2966519" y="1443841"/>
              <a:ext cx="8667184" cy="39703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main(){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Date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first_birth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{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1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 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JULY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 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2000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Person first {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</a:t>
              </a:r>
              <a:r>
                <a:rPr lang="ru-RU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Григорий"</a:t>
              </a:r>
              <a:r>
                <a:rPr lang="ru-RU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first_birth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cout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&amp;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first_birth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endl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  <a:r>
                <a:rPr lang="en-US" sz="1400" dirty="0">
                  <a:solidFill>
                    <a:srgbClr val="008000"/>
                  </a:solidFill>
                  <a:latin typeface="Consolas" panose="020B0609020204030204" pitchFamily="49" charset="0"/>
                </a:rPr>
                <a:t> // 0x61fe00</a:t>
              </a:r>
              <a:endParaRPr lang="en-US" sz="14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cout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&amp;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first.birth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endl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  <a:r>
                <a:rPr lang="en-US" sz="1400" dirty="0">
                  <a:solidFill>
                    <a:srgbClr val="008000"/>
                  </a:solidFill>
                  <a:latin typeface="Consolas" panose="020B0609020204030204" pitchFamily="49" charset="0"/>
                </a:rPr>
                <a:t> // 0x61fdf0</a:t>
              </a:r>
              <a:endParaRPr lang="en-US" sz="14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cout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</a:t>
              </a:r>
              <a:r>
                <a:rPr lang="ru-RU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Имя: "</a:t>
              </a:r>
              <a:r>
                <a:rPr lang="ru-RU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first.name &lt;&lt;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endl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cout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</a:t>
              </a:r>
              <a:r>
                <a:rPr lang="ru-RU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Дата рождения: "</a:t>
              </a:r>
              <a:r>
                <a:rPr lang="ru-RU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first.birth.day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'.'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first.birth.month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'.'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first.birth.year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endl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400" dirty="0">
                  <a:solidFill>
                    <a:srgbClr val="008000"/>
                  </a:solidFill>
                  <a:latin typeface="Consolas" panose="020B0609020204030204" pitchFamily="49" charset="0"/>
                </a:rPr>
                <a:t>    // </a:t>
              </a:r>
              <a:r>
                <a:rPr lang="ru-RU" sz="1400" dirty="0">
                  <a:solidFill>
                    <a:srgbClr val="008000"/>
                  </a:solidFill>
                  <a:latin typeface="Consolas" panose="020B0609020204030204" pitchFamily="49" charset="0"/>
                </a:rPr>
                <a:t>Имя: Григорий</a:t>
              </a:r>
              <a:endParaRPr lang="ru-RU" sz="14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ru-RU" sz="1400" dirty="0">
                  <a:solidFill>
                    <a:srgbClr val="008000"/>
                  </a:solidFill>
                  <a:latin typeface="Consolas" panose="020B0609020204030204" pitchFamily="49" charset="0"/>
                </a:rPr>
                <a:t>    // Дата рождения: 1.6.2000</a:t>
              </a:r>
              <a:endParaRPr lang="ru-RU" sz="14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ru-RU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Person second {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</a:t>
              </a:r>
              <a:r>
                <a:rPr lang="ru-RU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Алена"</a:t>
              </a:r>
              <a:r>
                <a:rPr lang="ru-RU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 {</a:t>
              </a:r>
              <a:r>
                <a:rPr lang="ru-RU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14</a:t>
              </a:r>
              <a:r>
                <a:rPr lang="ru-RU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 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DECEMBER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 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1993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}};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cout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</a:t>
              </a:r>
              <a:r>
                <a:rPr lang="ru-RU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Имя: "</a:t>
              </a:r>
              <a:r>
                <a:rPr lang="ru-RU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second.name &lt;&lt;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endl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cout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</a:t>
              </a:r>
              <a:r>
                <a:rPr lang="ru-RU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Дата рождения: "</a:t>
              </a:r>
              <a:r>
                <a:rPr lang="ru-RU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second.birth.day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'.'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second.birth.month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'.'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second.birth.year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endl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400" dirty="0">
                  <a:solidFill>
                    <a:srgbClr val="008000"/>
                  </a:solidFill>
                  <a:latin typeface="Consolas" panose="020B0609020204030204" pitchFamily="49" charset="0"/>
                </a:rPr>
                <a:t>    // </a:t>
              </a:r>
              <a:r>
                <a:rPr lang="ru-RU" sz="1400" dirty="0">
                  <a:solidFill>
                    <a:srgbClr val="008000"/>
                  </a:solidFill>
                  <a:latin typeface="Consolas" panose="020B0609020204030204" pitchFamily="49" charset="0"/>
                </a:rPr>
                <a:t>Имя: Алена</a:t>
              </a:r>
              <a:endParaRPr lang="ru-RU" sz="14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ru-RU" sz="1400" dirty="0">
                  <a:solidFill>
                    <a:srgbClr val="008000"/>
                  </a:solidFill>
                  <a:latin typeface="Consolas" panose="020B0609020204030204" pitchFamily="49" charset="0"/>
                </a:rPr>
                <a:t>    // Дата рождения: 14.11.1993</a:t>
              </a:r>
              <a:endParaRPr lang="ru-RU" sz="14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ru-RU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return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0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  <a:endPara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6302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Функции и структуры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291574" y="1100571"/>
            <a:ext cx="1153713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printDate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(Date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date){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date-&gt;day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'.'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date-&gt;month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'.'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date-&gt;year &lt;&lt;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printPerson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(Person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person){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1400" dirty="0">
                <a:solidFill>
                  <a:srgbClr val="A31515"/>
                </a:solidFill>
                <a:latin typeface="Consolas" panose="020B0609020204030204" pitchFamily="49" charset="0"/>
              </a:rPr>
              <a:t>Имя: "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person.name &lt;&lt;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1400" dirty="0">
                <a:solidFill>
                  <a:srgbClr val="A31515"/>
                </a:solidFill>
                <a:latin typeface="Consolas" panose="020B0609020204030204" pitchFamily="49" charset="0"/>
              </a:rPr>
              <a:t>Дата рождения: "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person.birth.day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'.'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person.birth.month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'.'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person.birth.year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Person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copyPerson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(Person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from){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Person {from-&gt;name, from-&gt;birth};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291574" y="3778227"/>
            <a:ext cx="4584071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main(){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Date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first_birth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MARCH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1987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Person first {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1400" dirty="0">
                <a:solidFill>
                  <a:srgbClr val="A31515"/>
                </a:solidFill>
                <a:latin typeface="Consolas" panose="020B0609020204030204" pitchFamily="49" charset="0"/>
              </a:rPr>
              <a:t>Николай"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first_birth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printPerson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(first);</a:t>
            </a: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  // 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Имя: Николай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  // Дата рождения: 12.2.1987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Person*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psecond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copyPerson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(&amp;first);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printDate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(&amp;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psecond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-&gt;birth);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// 12.2.1987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(*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psecond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).name =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1400" dirty="0">
                <a:solidFill>
                  <a:srgbClr val="A31515"/>
                </a:solidFill>
                <a:latin typeface="Consolas" panose="020B0609020204030204" pitchFamily="49" charset="0"/>
              </a:rPr>
              <a:t>Игорь"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printPerson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(*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psecond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  // 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Имя: Игорь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  // Дата рождения: 12.2.1987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4875645" y="4039837"/>
            <a:ext cx="695306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При обращении к полям структуры через указатель нужно использовать оператор </a:t>
            </a:r>
            <a:r>
              <a:rPr lang="en-US" b="1" dirty="0">
                <a:solidFill>
                  <a:srgbClr val="92D050"/>
                </a:solidFill>
              </a:rPr>
              <a:t>-&gt;</a:t>
            </a:r>
            <a:r>
              <a:rPr lang="en-US" dirty="0"/>
              <a:t>:</a:t>
            </a:r>
          </a:p>
          <a:p>
            <a:r>
              <a:rPr lang="en-US" dirty="0"/>
              <a:t>&lt;</a:t>
            </a:r>
            <a:r>
              <a:rPr lang="ru-RU" dirty="0"/>
              <a:t>указатель на переменную структуры</a:t>
            </a:r>
            <a:r>
              <a:rPr lang="en-US" dirty="0"/>
              <a:t>&gt;</a:t>
            </a:r>
            <a:r>
              <a:rPr lang="en-US" b="1" dirty="0">
                <a:solidFill>
                  <a:srgbClr val="92D050"/>
                </a:solidFill>
              </a:rPr>
              <a:t>-&gt;</a:t>
            </a:r>
            <a:r>
              <a:rPr lang="en-US" dirty="0"/>
              <a:t>&lt;</a:t>
            </a:r>
            <a:r>
              <a:rPr lang="ru-RU" dirty="0"/>
              <a:t>наименование поля</a:t>
            </a:r>
            <a:r>
              <a:rPr lang="en-US" dirty="0"/>
              <a:t>&gt;;</a:t>
            </a:r>
            <a:endParaRPr lang="ru-RU" dirty="0"/>
          </a:p>
          <a:p>
            <a:endParaRPr lang="en-US" dirty="0"/>
          </a:p>
          <a:p>
            <a:r>
              <a:rPr lang="ru-RU" dirty="0"/>
              <a:t>Этот оператор разыменовывает указатель и обращается к полю, эту операцию можно использовать повторить самостоятельно для обращения через точку</a:t>
            </a:r>
            <a:r>
              <a:rPr lang="en-US" dirty="0"/>
              <a:t>:</a:t>
            </a:r>
          </a:p>
          <a:p>
            <a:r>
              <a:rPr lang="en-US" dirty="0">
                <a:solidFill>
                  <a:srgbClr val="92D050"/>
                </a:solidFill>
              </a:rPr>
              <a:t>(*</a:t>
            </a:r>
            <a:r>
              <a:rPr lang="en-US" dirty="0"/>
              <a:t>&lt;</a:t>
            </a:r>
            <a:r>
              <a:rPr lang="ru-RU" dirty="0"/>
              <a:t>указатель на переменную структуры</a:t>
            </a:r>
            <a:r>
              <a:rPr lang="en-US" dirty="0"/>
              <a:t>&gt;</a:t>
            </a:r>
            <a:r>
              <a:rPr lang="en-US" dirty="0">
                <a:solidFill>
                  <a:srgbClr val="92D050"/>
                </a:solidFill>
              </a:rPr>
              <a:t>)</a:t>
            </a:r>
            <a:r>
              <a:rPr lang="en-US" b="1" dirty="0">
                <a:solidFill>
                  <a:srgbClr val="92D050"/>
                </a:solidFill>
              </a:rPr>
              <a:t>.</a:t>
            </a:r>
            <a:r>
              <a:rPr lang="en-US" dirty="0"/>
              <a:t>&lt;</a:t>
            </a:r>
            <a:r>
              <a:rPr lang="ru-RU" dirty="0"/>
              <a:t>наименование поля</a:t>
            </a:r>
            <a:r>
              <a:rPr lang="en-US" dirty="0"/>
              <a:t>&gt;;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734957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Современное состояние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71" name="Прямоугольник 70"/>
          <p:cNvSpPr/>
          <p:nvPr/>
        </p:nvSpPr>
        <p:spPr>
          <a:xfrm>
            <a:off x="428071" y="1100571"/>
            <a:ext cx="5999623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 современном </a:t>
            </a:r>
            <a:r>
              <a:rPr lang="en-US" dirty="0"/>
              <a:t>C++</a:t>
            </a:r>
            <a:r>
              <a:rPr lang="ru-RU" dirty="0"/>
              <a:t> структура имеет очень мало отличий от класса, т.е.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Структуры имеют свои методы.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Структуры имеют конструкторы и деструкторы.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Структуры имеют статические члены.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Структуры имеют наследование, полиморфизм, инкапсуляцию.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Структуры имеют перегрузку операторов.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Структуры имеют шаблоны.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Структуры имеют дружественные функции.</a:t>
            </a:r>
          </a:p>
          <a:p>
            <a:endParaRPr lang="ru-RU" dirty="0"/>
          </a:p>
          <a:p>
            <a:r>
              <a:rPr lang="ru-RU" dirty="0"/>
              <a:t>Разница между ними заключается в том, что структуры по умолчанию публичны, а классы приватны.</a:t>
            </a:r>
          </a:p>
          <a:p>
            <a:endParaRPr lang="ru-RU" dirty="0"/>
          </a:p>
          <a:p>
            <a:r>
              <a:rPr lang="ru-RU" dirty="0"/>
              <a:t>В рамках разработки, на уровне договоренности принято использовать структуры для простых агрегатов данных, а классы для всего что связано с ООП.</a:t>
            </a:r>
          </a:p>
        </p:txBody>
      </p:sp>
      <p:pic>
        <p:nvPicPr>
          <p:cNvPr id="1026" name="Picture 2" descr="https://www.meme-arsenal.com/memes/1d6ee90c2ad44abf616370d3c15a4fad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885721"/>
            <a:ext cx="5147959" cy="3658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9908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Отступы и выравнивание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71" name="Прямоугольник 70"/>
          <p:cNvSpPr/>
          <p:nvPr/>
        </p:nvSpPr>
        <p:spPr>
          <a:xfrm>
            <a:off x="428071" y="1100571"/>
            <a:ext cx="5999623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Особенностью хранения структур является такие вещи как выравнивание и отступы.</a:t>
            </a:r>
          </a:p>
          <a:p>
            <a:r>
              <a:rPr lang="ru-RU" sz="1600" dirty="0"/>
              <a:t>Выравнивание, это требование чтобы объект в памяти начинался с адреса кратного определенному числу байт.</a:t>
            </a:r>
          </a:p>
          <a:p>
            <a:r>
              <a:rPr lang="ru-RU" sz="1600" dirty="0"/>
              <a:t>Это требование связано как с архитектурными ограничениями, в некоторых старых архитектурах не получится считать </a:t>
            </a:r>
            <a:r>
              <a:rPr lang="en-US" sz="1600" dirty="0" err="1"/>
              <a:t>int</a:t>
            </a:r>
            <a:r>
              <a:rPr lang="en-US" sz="1600" dirty="0"/>
              <a:t> </a:t>
            </a:r>
            <a:r>
              <a:rPr lang="ru-RU" sz="1600" dirty="0"/>
              <a:t>или например </a:t>
            </a:r>
            <a:r>
              <a:rPr lang="en-US" sz="1600" dirty="0"/>
              <a:t>double </a:t>
            </a:r>
            <a:r>
              <a:rPr lang="ru-RU" sz="1600" dirty="0"/>
              <a:t>если они не выравнены.</a:t>
            </a:r>
          </a:p>
          <a:p>
            <a:r>
              <a:rPr lang="ru-RU" sz="1600" dirty="0"/>
              <a:t>Так и с особенностями работы процессоров, так современные </a:t>
            </a:r>
            <a:r>
              <a:rPr lang="en-US" sz="1600" dirty="0"/>
              <a:t>CPU </a:t>
            </a:r>
            <a:r>
              <a:rPr lang="ru-RU" sz="1600" dirty="0"/>
              <a:t>читают память блоками примерно по 64 байта </a:t>
            </a:r>
            <a:r>
              <a:rPr lang="ru-RU" sz="1600" dirty="0" err="1"/>
              <a:t>кеш</a:t>
            </a:r>
            <a:r>
              <a:rPr lang="ru-RU" sz="1600" dirty="0"/>
              <a:t>-линии.</a:t>
            </a:r>
          </a:p>
          <a:p>
            <a:r>
              <a:rPr lang="ru-RU" sz="1600" dirty="0"/>
              <a:t>Также, </a:t>
            </a:r>
            <a:r>
              <a:rPr lang="en-US" sz="1600" dirty="0"/>
              <a:t>SSE/AVX </a:t>
            </a:r>
            <a:r>
              <a:rPr lang="ru-RU" sz="1600" dirty="0"/>
              <a:t>инструкции требуют чтобы данные были выровнены либо на 16</a:t>
            </a:r>
            <a:r>
              <a:rPr lang="en-US" sz="1600" dirty="0"/>
              <a:t>/32/64 </a:t>
            </a:r>
            <a:r>
              <a:rPr lang="ru-RU" sz="1600" dirty="0"/>
              <a:t>байта.</a:t>
            </a:r>
            <a:endParaRPr lang="en-US" sz="1600" dirty="0"/>
          </a:p>
          <a:p>
            <a:r>
              <a:rPr lang="en-US" sz="1600" dirty="0"/>
              <a:t>C++ </a:t>
            </a:r>
            <a:r>
              <a:rPr lang="ru-RU" sz="1600" dirty="0"/>
              <a:t>определяет размер выравнивания через </a:t>
            </a:r>
            <a:r>
              <a:rPr lang="en-US" sz="1600" dirty="0"/>
              <a:t>Application Binary Interface</a:t>
            </a:r>
            <a:r>
              <a:rPr lang="ru-RU" sz="1600" dirty="0"/>
              <a:t> платформы (обычно 4 для </a:t>
            </a:r>
            <a:r>
              <a:rPr lang="en-US" sz="1600" dirty="0" err="1"/>
              <a:t>int</a:t>
            </a:r>
            <a:r>
              <a:rPr lang="en-US" sz="1600" dirty="0"/>
              <a:t> </a:t>
            </a:r>
            <a:r>
              <a:rPr lang="ru-RU" sz="1600" dirty="0"/>
              <a:t>и 8</a:t>
            </a:r>
            <a:r>
              <a:rPr lang="en-US" sz="1600" dirty="0"/>
              <a:t> </a:t>
            </a:r>
            <a:r>
              <a:rPr lang="ru-RU" sz="1600" dirty="0"/>
              <a:t>для </a:t>
            </a:r>
            <a:r>
              <a:rPr lang="en-US" sz="1600" dirty="0"/>
              <a:t>double</a:t>
            </a:r>
            <a:r>
              <a:rPr lang="ru-RU" sz="1600" dirty="0"/>
              <a:t>, 1 байт для </a:t>
            </a:r>
            <a:r>
              <a:rPr lang="en-US" sz="1600" dirty="0"/>
              <a:t>char </a:t>
            </a:r>
            <a:r>
              <a:rPr lang="ru-RU" sz="1600" dirty="0"/>
              <a:t>всегда</a:t>
            </a:r>
            <a:r>
              <a:rPr lang="en-US" sz="1600" dirty="0"/>
              <a:t>)</a:t>
            </a:r>
            <a:r>
              <a:rPr lang="ru-RU" sz="1600" dirty="0"/>
              <a:t>. И весь размер структуры должен быть кратен ее максимальному выравниванию.</a:t>
            </a:r>
          </a:p>
          <a:p>
            <a:r>
              <a:rPr lang="ru-RU" sz="1600" dirty="0"/>
              <a:t>Если размер поля или структуры не помещается в выравнивание, то добавляются отступы, по сути пустые байты.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sizeof</a:t>
            </a:r>
            <a:r>
              <a:rPr lang="en-US" sz="1600" dirty="0"/>
              <a:t> (&lt;</a:t>
            </a:r>
            <a:r>
              <a:rPr lang="ru-RU" sz="1600" dirty="0"/>
              <a:t>Структура</a:t>
            </a:r>
            <a:r>
              <a:rPr lang="en-US" sz="1600" dirty="0"/>
              <a:t>&gt;)</a:t>
            </a:r>
            <a:r>
              <a:rPr lang="ru-RU" sz="1600" dirty="0"/>
              <a:t> – узнать размер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offsetof</a:t>
            </a:r>
            <a:r>
              <a:rPr lang="en-US" sz="1600" dirty="0"/>
              <a:t> (&lt;</a:t>
            </a:r>
            <a:r>
              <a:rPr lang="ru-RU" sz="1600" dirty="0"/>
              <a:t>Структура</a:t>
            </a:r>
            <a:r>
              <a:rPr lang="en-US" sz="1600" dirty="0"/>
              <a:t>&gt;, &lt;</a:t>
            </a:r>
            <a:r>
              <a:rPr lang="ru-RU" sz="1600" dirty="0"/>
              <a:t>поле</a:t>
            </a:r>
            <a:r>
              <a:rPr lang="en-US" sz="1600" dirty="0"/>
              <a:t>&gt;)</a:t>
            </a:r>
            <a:r>
              <a:rPr lang="ru-RU" sz="1600" dirty="0"/>
              <a:t> – узнать отступ у поля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 smtClean="0"/>
              <a:t>alignof</a:t>
            </a:r>
            <a:r>
              <a:rPr lang="ru-RU" sz="1600" dirty="0" smtClean="0"/>
              <a:t> </a:t>
            </a:r>
            <a:r>
              <a:rPr lang="ru-RU" sz="1600" dirty="0"/>
              <a:t>(</a:t>
            </a:r>
            <a:r>
              <a:rPr lang="en-US" sz="1600" dirty="0"/>
              <a:t>&lt;</a:t>
            </a:r>
            <a:r>
              <a:rPr lang="ru-RU" sz="1600" dirty="0"/>
              <a:t>Структура</a:t>
            </a:r>
            <a:r>
              <a:rPr lang="en-US" sz="1600" dirty="0"/>
              <a:t>&gt;</a:t>
            </a:r>
            <a:r>
              <a:rPr lang="ru-RU" sz="1600" dirty="0"/>
              <a:t>) – узнать требования к типу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 smtClean="0"/>
              <a:t>struct</a:t>
            </a:r>
            <a:r>
              <a:rPr lang="en-US" sz="1600" dirty="0" smtClean="0"/>
              <a:t> </a:t>
            </a:r>
            <a:r>
              <a:rPr lang="en-US" sz="1600" b="1" dirty="0" err="1"/>
              <a:t>alignas</a:t>
            </a:r>
            <a:r>
              <a:rPr lang="en-US" sz="1600" dirty="0"/>
              <a:t> (&lt;</a:t>
            </a:r>
            <a:r>
              <a:rPr lang="ru-RU" sz="1600" dirty="0"/>
              <a:t>кол-во</a:t>
            </a:r>
            <a:r>
              <a:rPr lang="en-US" sz="1600" dirty="0"/>
              <a:t>&gt;)</a:t>
            </a:r>
            <a:r>
              <a:rPr lang="ru-RU" sz="1600" dirty="0"/>
              <a:t> </a:t>
            </a:r>
            <a:r>
              <a:rPr lang="en-US" sz="1600" dirty="0"/>
              <a:t>&lt;</a:t>
            </a:r>
            <a:r>
              <a:rPr lang="ru-RU" sz="1600" dirty="0"/>
              <a:t>имя</a:t>
            </a:r>
            <a:r>
              <a:rPr lang="en-US" sz="1600" dirty="0"/>
              <a:t>&gt; </a:t>
            </a:r>
            <a:r>
              <a:rPr lang="ru-RU" sz="1600" dirty="0"/>
              <a:t> - указать требование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6562165" y="3577033"/>
            <a:ext cx="502708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S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   // 4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байта</a:t>
            </a:r>
            <a:endParaRPr lang="en-US" sz="16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b;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   // 4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байта</a:t>
            </a:r>
            <a:endParaRPr lang="en-US" sz="16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char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c;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  // 1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байт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d;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   // 8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байт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6562165" y="5085002"/>
            <a:ext cx="549536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offsetof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(S, a) &lt;&lt;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0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offsetof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(S, b) &lt;&lt;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offsetof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(S, c) &lt;&lt;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sz="1600" i="1" dirty="0">
                <a:solidFill>
                  <a:srgbClr val="008000"/>
                </a:solidFill>
                <a:latin typeface="Consolas" panose="020B0609020204030204" pitchFamily="49" charset="0"/>
              </a:rPr>
              <a:t> 8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offsetof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(S, d) &lt;&lt;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16</a:t>
            </a:r>
            <a:endParaRPr lang="en-US" sz="1600" i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(S) &lt;&lt;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   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24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6562165" y="1062315"/>
            <a:ext cx="5027083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S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   // 4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байта</a:t>
            </a:r>
            <a:endParaRPr lang="en-US" sz="16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char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c;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  // 1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байт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d;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   // 8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байт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6562165" y="2335063"/>
            <a:ext cx="549536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offsetof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(S, a) &lt;&lt;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0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offsetof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(S, c) &lt;&lt;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sz="1600" i="1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600" i="1" dirty="0" smtClean="0">
                <a:solidFill>
                  <a:srgbClr val="008000"/>
                </a:solidFill>
                <a:latin typeface="Consolas" panose="020B0609020204030204" pitchFamily="49" charset="0"/>
              </a:rPr>
              <a:t>4</a:t>
            </a:r>
            <a:endParaRPr lang="en-US" sz="1600" i="1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offsetof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(S, d) &lt;&lt;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6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8</a:t>
            </a:r>
            <a:endParaRPr lang="en-US" sz="1600" i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(S) &lt;&lt;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   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6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16</a:t>
            </a:r>
            <a:endParaRPr lang="ru-RU" sz="16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alingof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(S) &lt;&lt;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 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8</a:t>
            </a:r>
            <a:endParaRPr lang="ru-RU" sz="1600" dirty="0">
              <a:solidFill>
                <a:srgbClr val="008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9301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Объединения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868463" y="5601541"/>
            <a:ext cx="848253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Все объединение занимает памяти как самый большой тип входящий в него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Обращение к полю объединения происходит так же как к полю структуры.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На объединения так же как на структуры могут указывать указатели и ссылки.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Обратиться к значению объединения можно только через поле.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1976407" y="1180231"/>
            <a:ext cx="829297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Объединения это специальный пользовательский тип который позволяет хранить данные разного типа по одному и тому же адресу. </a:t>
            </a:r>
          </a:p>
          <a:p>
            <a:r>
              <a:rPr lang="ru-RU" dirty="0"/>
              <a:t>Сигнатура</a:t>
            </a:r>
            <a:r>
              <a:rPr lang="en-US" dirty="0"/>
              <a:t>:</a:t>
            </a:r>
          </a:p>
          <a:p>
            <a:r>
              <a:rPr lang="en-US" dirty="0">
                <a:solidFill>
                  <a:srgbClr val="0000FF"/>
                </a:solidFill>
              </a:rPr>
              <a:t>union</a:t>
            </a:r>
            <a:r>
              <a:rPr lang="en-US" dirty="0">
                <a:solidFill>
                  <a:srgbClr val="000000"/>
                </a:solidFill>
              </a:rPr>
              <a:t> &lt;</a:t>
            </a:r>
            <a:r>
              <a:rPr lang="ru-RU" dirty="0">
                <a:solidFill>
                  <a:srgbClr val="000000"/>
                </a:solidFill>
              </a:rPr>
              <a:t>название</a:t>
            </a:r>
            <a:r>
              <a:rPr lang="en-US" dirty="0">
                <a:solidFill>
                  <a:srgbClr val="000000"/>
                </a:solidFill>
              </a:rPr>
              <a:t>&gt;{</a:t>
            </a:r>
            <a:endParaRPr lang="ru-RU" dirty="0">
              <a:solidFill>
                <a:srgbClr val="000000"/>
              </a:solidFill>
            </a:endParaRPr>
          </a:p>
          <a:p>
            <a:r>
              <a:rPr lang="ru-RU" dirty="0">
                <a:solidFill>
                  <a:srgbClr val="000000"/>
                </a:solidFill>
              </a:rPr>
              <a:t>    </a:t>
            </a:r>
            <a:r>
              <a:rPr lang="en-US" dirty="0">
                <a:solidFill>
                  <a:srgbClr val="000000"/>
                </a:solidFill>
              </a:rPr>
              <a:t>&lt;</a:t>
            </a:r>
            <a:r>
              <a:rPr lang="ru-RU" dirty="0">
                <a:solidFill>
                  <a:srgbClr val="000000"/>
                </a:solidFill>
              </a:rPr>
              <a:t>тип</a:t>
            </a:r>
            <a:r>
              <a:rPr lang="en-US" dirty="0">
                <a:solidFill>
                  <a:srgbClr val="000000"/>
                </a:solidFill>
              </a:rPr>
              <a:t>&gt;</a:t>
            </a:r>
            <a:r>
              <a:rPr lang="ru-RU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&lt;</a:t>
            </a:r>
            <a:r>
              <a:rPr lang="ru-RU" dirty="0">
                <a:solidFill>
                  <a:srgbClr val="000000"/>
                </a:solidFill>
              </a:rPr>
              <a:t>название поля</a:t>
            </a:r>
            <a:r>
              <a:rPr lang="en-US" dirty="0">
                <a:solidFill>
                  <a:srgbClr val="000000"/>
                </a:solidFill>
              </a:rPr>
              <a:t>&gt; =</a:t>
            </a:r>
            <a:r>
              <a:rPr lang="ru-RU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&lt;</a:t>
            </a:r>
            <a:r>
              <a:rPr lang="ru-RU" dirty="0">
                <a:solidFill>
                  <a:srgbClr val="000000"/>
                </a:solidFill>
              </a:rPr>
              <a:t>значение по умолчанию</a:t>
            </a:r>
            <a:r>
              <a:rPr lang="en-US" dirty="0">
                <a:solidFill>
                  <a:srgbClr val="000000"/>
                </a:solidFill>
              </a:rPr>
              <a:t>&gt;;</a:t>
            </a:r>
          </a:p>
          <a:p>
            <a:r>
              <a:rPr lang="en-US" dirty="0">
                <a:solidFill>
                  <a:srgbClr val="000000"/>
                </a:solidFill>
              </a:rPr>
              <a:t>    &lt;</a:t>
            </a:r>
            <a:r>
              <a:rPr lang="ru-RU" dirty="0">
                <a:solidFill>
                  <a:srgbClr val="000000"/>
                </a:solidFill>
              </a:rPr>
              <a:t>тип</a:t>
            </a:r>
            <a:r>
              <a:rPr lang="en-US" dirty="0">
                <a:solidFill>
                  <a:srgbClr val="000000"/>
                </a:solidFill>
              </a:rPr>
              <a:t>&gt;</a:t>
            </a:r>
            <a:r>
              <a:rPr lang="ru-RU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&lt;</a:t>
            </a:r>
            <a:r>
              <a:rPr lang="ru-RU" dirty="0">
                <a:solidFill>
                  <a:srgbClr val="000000"/>
                </a:solidFill>
              </a:rPr>
              <a:t>название поля</a:t>
            </a:r>
            <a:r>
              <a:rPr lang="en-US" dirty="0">
                <a:solidFill>
                  <a:srgbClr val="000000"/>
                </a:solidFill>
              </a:rPr>
              <a:t>&gt;</a:t>
            </a:r>
          </a:p>
          <a:p>
            <a:r>
              <a:rPr lang="en-US" dirty="0">
                <a:solidFill>
                  <a:srgbClr val="000000"/>
                </a:solidFill>
              </a:rPr>
              <a:t>    // …</a:t>
            </a:r>
          </a:p>
          <a:p>
            <a:r>
              <a:rPr lang="en-US" dirty="0">
                <a:solidFill>
                  <a:srgbClr val="000000"/>
                </a:solidFill>
              </a:rPr>
              <a:t>};</a:t>
            </a:r>
          </a:p>
        </p:txBody>
      </p:sp>
      <p:grpSp>
        <p:nvGrpSpPr>
          <p:cNvPr id="11" name="Группа 10"/>
          <p:cNvGrpSpPr/>
          <p:nvPr/>
        </p:nvGrpSpPr>
        <p:grpSpPr>
          <a:xfrm>
            <a:off x="3742299" y="3227652"/>
            <a:ext cx="4761189" cy="2246265"/>
            <a:chOff x="3179634" y="4238566"/>
            <a:chExt cx="4761189" cy="2246265"/>
          </a:xfrm>
        </p:grpSpPr>
        <p:sp>
          <p:nvSpPr>
            <p:cNvPr id="12" name="Блок-схема: процесс 11"/>
            <p:cNvSpPr/>
            <p:nvPr/>
          </p:nvSpPr>
          <p:spPr>
            <a:xfrm>
              <a:off x="3978991" y="5728631"/>
              <a:ext cx="366465" cy="369686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  <a:endParaRPr lang="ru-RU" dirty="0"/>
            </a:p>
          </p:txBody>
        </p:sp>
        <p:sp>
          <p:nvSpPr>
            <p:cNvPr id="13" name="Блок-схема: процесс 12"/>
            <p:cNvSpPr/>
            <p:nvPr/>
          </p:nvSpPr>
          <p:spPr>
            <a:xfrm>
              <a:off x="3978991" y="5348194"/>
              <a:ext cx="371192" cy="369686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14" name="Блок-схема: процесс 13"/>
            <p:cNvSpPr/>
            <p:nvPr/>
          </p:nvSpPr>
          <p:spPr>
            <a:xfrm>
              <a:off x="3978991" y="4978504"/>
              <a:ext cx="1568072" cy="369686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15" name="Блок-схема: процесс 14"/>
            <p:cNvSpPr/>
            <p:nvPr/>
          </p:nvSpPr>
          <p:spPr>
            <a:xfrm>
              <a:off x="3978991" y="4612235"/>
              <a:ext cx="3160271" cy="369686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16" name="Рамка 15"/>
            <p:cNvSpPr/>
            <p:nvPr/>
          </p:nvSpPr>
          <p:spPr>
            <a:xfrm>
              <a:off x="3580031" y="6095532"/>
              <a:ext cx="371192" cy="389299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spc="-150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7" name="Рамка 16"/>
            <p:cNvSpPr/>
            <p:nvPr/>
          </p:nvSpPr>
          <p:spPr>
            <a:xfrm>
              <a:off x="3978991" y="6095532"/>
              <a:ext cx="371192" cy="389299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spc="-150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8" name="Рамка 17"/>
            <p:cNvSpPr/>
            <p:nvPr/>
          </p:nvSpPr>
          <p:spPr>
            <a:xfrm>
              <a:off x="4377951" y="6095532"/>
              <a:ext cx="371192" cy="389299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spc="-150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9" name="Рамка 18"/>
            <p:cNvSpPr/>
            <p:nvPr/>
          </p:nvSpPr>
          <p:spPr>
            <a:xfrm>
              <a:off x="4776911" y="6095532"/>
              <a:ext cx="371192" cy="389299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spc="-150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0" name="Рамка 19"/>
            <p:cNvSpPr/>
            <p:nvPr/>
          </p:nvSpPr>
          <p:spPr>
            <a:xfrm>
              <a:off x="5175871" y="6095532"/>
              <a:ext cx="371192" cy="389299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spc="-150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1" name="Рамка 20"/>
            <p:cNvSpPr/>
            <p:nvPr/>
          </p:nvSpPr>
          <p:spPr>
            <a:xfrm>
              <a:off x="5574831" y="6095532"/>
              <a:ext cx="371192" cy="389299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spc="-150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2" name="Рамка 21"/>
            <p:cNvSpPr/>
            <p:nvPr/>
          </p:nvSpPr>
          <p:spPr>
            <a:xfrm>
              <a:off x="5973791" y="6095532"/>
              <a:ext cx="371192" cy="389299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spc="-150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23" name="Рамка 22"/>
            <p:cNvSpPr/>
            <p:nvPr/>
          </p:nvSpPr>
          <p:spPr>
            <a:xfrm>
              <a:off x="6372751" y="6095532"/>
              <a:ext cx="371192" cy="389299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spc="-150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24" name="Рамка 23"/>
            <p:cNvSpPr/>
            <p:nvPr/>
          </p:nvSpPr>
          <p:spPr>
            <a:xfrm>
              <a:off x="6771711" y="6095532"/>
              <a:ext cx="371192" cy="389299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spc="-150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25" name="Рамка 24"/>
            <p:cNvSpPr/>
            <p:nvPr/>
          </p:nvSpPr>
          <p:spPr>
            <a:xfrm>
              <a:off x="7170671" y="6095532"/>
              <a:ext cx="371192" cy="389299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spc="-150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26" name="Рамка 25"/>
            <p:cNvSpPr/>
            <p:nvPr/>
          </p:nvSpPr>
          <p:spPr>
            <a:xfrm>
              <a:off x="7569631" y="6095532"/>
              <a:ext cx="371192" cy="389299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spc="-150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11</a:t>
              </a:r>
            </a:p>
          </p:txBody>
        </p:sp>
        <p:sp>
          <p:nvSpPr>
            <p:cNvPr id="27" name="Рамка 26"/>
            <p:cNvSpPr/>
            <p:nvPr/>
          </p:nvSpPr>
          <p:spPr>
            <a:xfrm>
              <a:off x="3179634" y="6095528"/>
              <a:ext cx="371192" cy="389299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spc="-150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8" name="Блок-схема: процесс 27"/>
            <p:cNvSpPr/>
            <p:nvPr/>
          </p:nvSpPr>
          <p:spPr>
            <a:xfrm>
              <a:off x="3978991" y="4238566"/>
              <a:ext cx="3160271" cy="369686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Union{char, bool, </a:t>
              </a:r>
              <a:r>
                <a:rPr lang="en-US" dirty="0" err="1"/>
                <a:t>int</a:t>
              </a:r>
              <a:r>
                <a:rPr lang="en-US" dirty="0"/>
                <a:t>, double}</a:t>
              </a:r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17260241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Замена объединения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443433" y="1145880"/>
            <a:ext cx="5209331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 современном </a:t>
            </a:r>
            <a:r>
              <a:rPr lang="en-US" dirty="0"/>
              <a:t>C++</a:t>
            </a:r>
            <a:r>
              <a:rPr lang="ru-RU" dirty="0"/>
              <a:t> (17+)</a:t>
            </a:r>
            <a:r>
              <a:rPr lang="en-US" dirty="0"/>
              <a:t> </a:t>
            </a:r>
            <a:r>
              <a:rPr lang="ru-RU" dirty="0"/>
              <a:t>есть две альтернативы</a:t>
            </a:r>
            <a:r>
              <a:rPr lang="en-US" dirty="0"/>
              <a:t>: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std</a:t>
            </a:r>
            <a:r>
              <a:rPr lang="en-US" dirty="0"/>
              <a:t>::</a:t>
            </a:r>
            <a:r>
              <a:rPr lang="en-US" dirty="0" smtClean="0"/>
              <a:t>variant&lt;TYPE&gt; </a:t>
            </a:r>
            <a:r>
              <a:rPr lang="en-US" dirty="0"/>
              <a:t>– </a:t>
            </a:r>
            <a:r>
              <a:rPr lang="ru-RU" dirty="0" smtClean="0"/>
              <a:t>хранит одно значение из перечисленного набора типов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std</a:t>
            </a:r>
            <a:r>
              <a:rPr lang="en-US" dirty="0"/>
              <a:t>::</a:t>
            </a:r>
            <a:r>
              <a:rPr lang="en-US" dirty="0" smtClean="0"/>
              <a:t>optional</a:t>
            </a:r>
            <a:r>
              <a:rPr lang="en-US" dirty="0" smtClean="0"/>
              <a:t>&lt;TYPE&gt;</a:t>
            </a:r>
            <a:r>
              <a:rPr lang="en-US" dirty="0" smtClean="0"/>
              <a:t> </a:t>
            </a:r>
            <a:r>
              <a:rPr lang="en-US" dirty="0"/>
              <a:t>–</a:t>
            </a:r>
            <a:r>
              <a:rPr lang="ru-RU" dirty="0"/>
              <a:t> для возможно несуществующих значений</a:t>
            </a:r>
          </a:p>
          <a:p>
            <a:r>
              <a:rPr lang="ru-RU" dirty="0"/>
              <a:t>Оба этих типа являются частью стандартной библиотеки, главное что нам они дают это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Безопасную работы с разными типами в одном объекте, все проверяется за программиста, а обратится к памяти небезопасным образом не получится.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Уникальные ошибки для уникальных ситуаций.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Явную ошибку при обращении </a:t>
            </a:r>
            <a:r>
              <a:rPr lang="ru-RU" dirty="0"/>
              <a:t>к не существующим </a:t>
            </a:r>
            <a:r>
              <a:rPr lang="ru-RU" dirty="0" smtClean="0"/>
              <a:t>данным.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Использование для сложных типов.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r>
              <a:rPr lang="ru-RU" dirty="0"/>
              <a:t>Также обратите внимание, как можно использовать</a:t>
            </a:r>
            <a:r>
              <a:rPr lang="en-US" dirty="0"/>
              <a:t> </a:t>
            </a:r>
            <a:r>
              <a:rPr lang="ru-RU" dirty="0"/>
              <a:t>директиву </a:t>
            </a:r>
            <a:r>
              <a:rPr lang="en-US" dirty="0"/>
              <a:t>using</a:t>
            </a:r>
            <a:r>
              <a:rPr lang="ru-RU" dirty="0"/>
              <a:t>.</a:t>
            </a:r>
            <a:endParaRPr lang="en-US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5652764" y="1645268"/>
            <a:ext cx="6539236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&lt;optional&gt;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&lt;variant&gt;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Var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::variant&lt;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::string&gt;;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::optional&lt;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::string&gt;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findUser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found)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(found)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"Alice"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nullopt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Var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v 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::get&lt;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&gt;(v)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"\n"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                  //10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v 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3.14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::get&lt;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&gt;(v)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"\n"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               //3.14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v 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::string(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"Hello"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::get&lt;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::string&gt;(v)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"\n"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          //Hello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user 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findUser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user.has_value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-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*user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"\n"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 1 - Alice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user 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findUser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(user ? *user: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"NOT FOUND"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 &lt;&lt;  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"\n"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      // NOT FOUND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3467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 объединения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730674" y="1100571"/>
            <a:ext cx="8637008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union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Value{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f;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c;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printValue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(Value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val.i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' 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val.f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 '"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val.c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"'"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&lt;&lt;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main(){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Value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value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(value) &lt;&lt;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// 8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printValue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(value);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// 0 0 ''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value.i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56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printValue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(value);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// 56 2.76677e-322 '8'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value.c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'h'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printValue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(value);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// 104 5.13828e-322 'h'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value.f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12.434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printValue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(value);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// 104 5.13828e-322 'h'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value;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Ошибка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7847598" y="4750404"/>
            <a:ext cx="252008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! </a:t>
            </a:r>
            <a:r>
              <a:rPr lang="ru-RU" dirty="0" smtClean="0"/>
              <a:t>Пример содержит </a:t>
            </a:r>
            <a:r>
              <a:rPr lang="en-US" b="1" dirty="0" smtClean="0">
                <a:solidFill>
                  <a:srgbClr val="FF0000"/>
                </a:solidFill>
              </a:rPr>
              <a:t>Undefined Behavior</a:t>
            </a:r>
          </a:p>
          <a:p>
            <a:r>
              <a:rPr lang="ru-RU" dirty="0" smtClean="0"/>
              <a:t>При обращении к данным неправильного типа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20089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Псевдонимы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8270" y="1365604"/>
            <a:ext cx="110509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Псевдонимом называется тип который можно использовать для объявления переменных но он не является самостоятельным и за ним скрывается какой то другой тип.</a:t>
            </a:r>
          </a:p>
          <a:p>
            <a:r>
              <a:rPr lang="ru-RU" dirty="0"/>
              <a:t>Сигнатура</a:t>
            </a:r>
            <a:r>
              <a:rPr lang="en-US" dirty="0"/>
              <a:t>:</a:t>
            </a:r>
          </a:p>
          <a:p>
            <a:r>
              <a:rPr lang="en-US" dirty="0" err="1">
                <a:solidFill>
                  <a:srgbClr val="0000FF"/>
                </a:solidFill>
              </a:rPr>
              <a:t>typedef</a:t>
            </a:r>
            <a:r>
              <a:rPr lang="en-US" dirty="0">
                <a:solidFill>
                  <a:srgbClr val="000000"/>
                </a:solidFill>
              </a:rPr>
              <a:t> &lt;</a:t>
            </a:r>
            <a:r>
              <a:rPr lang="ru-RU" dirty="0">
                <a:solidFill>
                  <a:srgbClr val="000000"/>
                </a:solidFill>
              </a:rPr>
              <a:t>для кого является синонимом</a:t>
            </a:r>
            <a:r>
              <a:rPr lang="en-US" dirty="0">
                <a:solidFill>
                  <a:srgbClr val="000000"/>
                </a:solidFill>
              </a:rPr>
              <a:t>&gt; &lt;</a:t>
            </a:r>
            <a:r>
              <a:rPr lang="ru-RU" dirty="0">
                <a:solidFill>
                  <a:srgbClr val="000000"/>
                </a:solidFill>
              </a:rPr>
              <a:t>название синонима</a:t>
            </a:r>
            <a:r>
              <a:rPr lang="en-US" dirty="0">
                <a:solidFill>
                  <a:srgbClr val="000000"/>
                </a:solidFill>
              </a:rPr>
              <a:t>&gt;;</a:t>
            </a:r>
          </a:p>
          <a:p>
            <a:r>
              <a:rPr lang="en-US" dirty="0">
                <a:solidFill>
                  <a:srgbClr val="0000FF"/>
                </a:solidFill>
              </a:rPr>
              <a:t>using</a:t>
            </a:r>
            <a:r>
              <a:rPr lang="en-US" dirty="0">
                <a:solidFill>
                  <a:srgbClr val="000000"/>
                </a:solidFill>
              </a:rPr>
              <a:t> &lt;</a:t>
            </a:r>
            <a:r>
              <a:rPr lang="ru-RU" dirty="0">
                <a:solidFill>
                  <a:srgbClr val="000000"/>
                </a:solidFill>
              </a:rPr>
              <a:t>название синонима</a:t>
            </a:r>
            <a:r>
              <a:rPr lang="en-US" dirty="0">
                <a:solidFill>
                  <a:srgbClr val="000000"/>
                </a:solidFill>
              </a:rPr>
              <a:t>&gt; = &lt;</a:t>
            </a:r>
            <a:r>
              <a:rPr lang="ru-RU" dirty="0">
                <a:solidFill>
                  <a:srgbClr val="000000"/>
                </a:solidFill>
              </a:rPr>
              <a:t>для кого является синонимом</a:t>
            </a:r>
            <a:r>
              <a:rPr lang="en-US" dirty="0">
                <a:solidFill>
                  <a:srgbClr val="000000"/>
                </a:solidFill>
              </a:rPr>
              <a:t>&gt;;</a:t>
            </a:r>
          </a:p>
        </p:txBody>
      </p:sp>
      <p:grpSp>
        <p:nvGrpSpPr>
          <p:cNvPr id="10" name="Группа 9"/>
          <p:cNvGrpSpPr/>
          <p:nvPr/>
        </p:nvGrpSpPr>
        <p:grpSpPr>
          <a:xfrm>
            <a:off x="289566" y="2964746"/>
            <a:ext cx="11902434" cy="3539430"/>
            <a:chOff x="266641" y="2070954"/>
            <a:chExt cx="11660844" cy="3539430"/>
          </a:xfrm>
        </p:grpSpPr>
        <p:sp>
          <p:nvSpPr>
            <p:cNvPr id="11" name="Прямоугольник 10"/>
            <p:cNvSpPr/>
            <p:nvPr/>
          </p:nvSpPr>
          <p:spPr>
            <a:xfrm>
              <a:off x="4029580" y="2354018"/>
              <a:ext cx="7897905" cy="28931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main(){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DoublePointerINT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dpi = </a:t>
              </a:r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new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en-US" sz="14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*[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10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];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ULLI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big_int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= 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18'446'744'073'709'551'615LLU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DatePointer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dp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= </a:t>
              </a:r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new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Date{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1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 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1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 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2001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Value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value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value.c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= 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'h'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ReferenceValue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rvalue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= value;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cout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dpi &lt;&lt; </a:t>
              </a:r>
              <a:r>
                <a:rPr lang="en-US" sz="14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sizeof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(dpi) &lt;&lt;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endl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  <a:r>
                <a:rPr lang="en-US" sz="1400" dirty="0">
                  <a:solidFill>
                    <a:srgbClr val="008000"/>
                  </a:solidFill>
                  <a:latin typeface="Consolas" panose="020B0609020204030204" pitchFamily="49" charset="0"/>
                </a:rPr>
                <a:t> // 0xe443808</a:t>
              </a:r>
              <a:endParaRPr lang="en-US" sz="14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cout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big_int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en-US" sz="1400" dirty="0" smtClean="0">
                  <a:solidFill>
                    <a:srgbClr val="000000"/>
                  </a:solidFill>
                  <a:latin typeface="Consolas" panose="020B0609020204030204" pitchFamily="49" charset="0"/>
                </a:rPr>
                <a:t>&lt;&lt; “ ” &lt;&lt;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en-US" sz="14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sizeof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big_int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 &lt;&lt;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endl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  <a:r>
                <a:rPr lang="en-US" sz="1400" dirty="0">
                  <a:solidFill>
                    <a:srgbClr val="008000"/>
                  </a:solidFill>
                  <a:latin typeface="Consolas" panose="020B0609020204030204" pitchFamily="49" charset="0"/>
                </a:rPr>
                <a:t> // </a:t>
              </a:r>
              <a:r>
                <a:rPr lang="en-US" sz="1400" dirty="0" smtClean="0">
                  <a:solidFill>
                    <a:srgbClr val="008000"/>
                  </a:solidFill>
                  <a:latin typeface="Consolas" panose="020B0609020204030204" pitchFamily="49" charset="0"/>
                </a:rPr>
                <a:t>18446744073709551615 8</a:t>
              </a:r>
              <a:endParaRPr lang="en-US" sz="14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cout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dp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-&gt;year &lt;&lt;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endl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  <a:r>
                <a:rPr lang="en-US" sz="1400" dirty="0">
                  <a:solidFill>
                    <a:srgbClr val="008000"/>
                  </a:solidFill>
                  <a:latin typeface="Consolas" panose="020B0609020204030204" pitchFamily="49" charset="0"/>
                </a:rPr>
                <a:t> // 2001</a:t>
              </a:r>
              <a:endParaRPr lang="en-US" sz="14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cout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rvalue.c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&lt;&lt;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endl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  <a:r>
                <a:rPr lang="en-US" sz="1400" dirty="0">
                  <a:solidFill>
                    <a:srgbClr val="008000"/>
                  </a:solidFill>
                  <a:latin typeface="Consolas" panose="020B0609020204030204" pitchFamily="49" charset="0"/>
                </a:rPr>
                <a:t> // h</a:t>
              </a:r>
              <a:endParaRPr lang="en-US" sz="14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return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0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  <a:endPara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12" name="Прямоугольник 11"/>
            <p:cNvSpPr/>
            <p:nvPr/>
          </p:nvSpPr>
          <p:spPr>
            <a:xfrm>
              <a:off x="266641" y="2070954"/>
              <a:ext cx="3762939" cy="35394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union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Value{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= 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0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double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f;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char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c;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/>
              </a:r>
              <a:b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</a:br>
              <a:r>
                <a:rPr lang="en-US" sz="14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struct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Date{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day;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month;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sz="14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year;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/>
              </a:r>
              <a:b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</a:br>
              <a:r>
                <a:rPr lang="en-US" sz="14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typedef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en-US" sz="14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**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DoublePointerINT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4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typedef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unsigned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long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en-US" sz="14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long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en-US" sz="14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ULLI;</a:t>
              </a:r>
            </a:p>
            <a:p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using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DatePointer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 Date*;</a:t>
              </a:r>
            </a:p>
            <a:p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using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ReferenceValue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 Value&amp;;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382437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Inline </a:t>
            </a:r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Функции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427075" y="2381828"/>
            <a:ext cx="9961829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string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hellow_function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 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Hellow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inline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string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world_inline_funtion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"World"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main(){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hellow_function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 &lt;&lt;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' 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world_inline_funtion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 &lt;&lt;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7075" y="1181499"/>
            <a:ext cx="110509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 старых стандартах </a:t>
            </a:r>
            <a:r>
              <a:rPr lang="ru-RU" b="1" dirty="0" smtClean="0"/>
              <a:t>встраиваемые</a:t>
            </a:r>
            <a:r>
              <a:rPr lang="ru-RU" dirty="0" smtClean="0"/>
              <a:t>(</a:t>
            </a:r>
            <a:r>
              <a:rPr lang="en-US" b="1" i="1" dirty="0" smtClean="0"/>
              <a:t>inline</a:t>
            </a:r>
            <a:r>
              <a:rPr lang="en-US" dirty="0"/>
              <a:t>) </a:t>
            </a:r>
            <a:r>
              <a:rPr lang="ru-RU" dirty="0"/>
              <a:t>функции это </a:t>
            </a:r>
            <a:r>
              <a:rPr lang="ru-RU" dirty="0" smtClean="0"/>
              <a:t>функции которые </a:t>
            </a:r>
            <a:r>
              <a:rPr lang="ru-RU" dirty="0"/>
              <a:t>компилятор попытается вставить прямо в место ее </a:t>
            </a:r>
            <a:r>
              <a:rPr lang="ru-RU" dirty="0" smtClean="0"/>
              <a:t>вызова. Современный же компилятор делает это не зависимо от ключевого слова</a:t>
            </a:r>
            <a:endParaRPr lang="ru-RU" dirty="0"/>
          </a:p>
          <a:p>
            <a:r>
              <a:rPr lang="ru-RU" dirty="0"/>
              <a:t>Сигнатура</a:t>
            </a:r>
            <a:r>
              <a:rPr lang="en-US" dirty="0"/>
              <a:t>:</a:t>
            </a:r>
          </a:p>
          <a:p>
            <a:r>
              <a:rPr lang="en-US" dirty="0">
                <a:solidFill>
                  <a:srgbClr val="0000FF"/>
                </a:solidFill>
              </a:rPr>
              <a:t>inline</a:t>
            </a:r>
            <a:r>
              <a:rPr lang="en-US" dirty="0">
                <a:solidFill>
                  <a:srgbClr val="000000"/>
                </a:solidFill>
              </a:rPr>
              <a:t> &lt;</a:t>
            </a:r>
            <a:r>
              <a:rPr lang="ru-RU" dirty="0">
                <a:solidFill>
                  <a:srgbClr val="000000"/>
                </a:solidFill>
              </a:rPr>
              <a:t>сигнатура функции</a:t>
            </a:r>
            <a:r>
              <a:rPr lang="en-US" dirty="0">
                <a:solidFill>
                  <a:srgbClr val="000000"/>
                </a:solidFill>
              </a:rPr>
              <a:t>&gt;;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27075" y="5490371"/>
            <a:ext cx="110509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Важная языковая роль </a:t>
            </a:r>
            <a:r>
              <a:rPr lang="ru-RU" b="1" dirty="0" err="1" smtClean="0"/>
              <a:t>inline</a:t>
            </a:r>
            <a:r>
              <a:rPr lang="ru-RU" dirty="0" smtClean="0"/>
              <a:t> начиная с 17 стандарта — </a:t>
            </a:r>
            <a:r>
              <a:rPr lang="ru-RU" dirty="0"/>
              <a:t>разрешить одинаковое определение функции или переменной в нескольких единицах трансляции при соблюдении правила одного определения. Поэтому функции, определённые внутри класса, и шаблоны можно размещать в заголовках.</a:t>
            </a:r>
          </a:p>
          <a:p>
            <a:r>
              <a:rPr lang="ru-RU" dirty="0" smtClean="0"/>
              <a:t>Функция </a:t>
            </a:r>
            <a:r>
              <a:rPr lang="ru-RU" dirty="0"/>
              <a:t>объявленная как </a:t>
            </a:r>
            <a:r>
              <a:rPr lang="en-US" dirty="0"/>
              <a:t>inline </a:t>
            </a:r>
            <a:r>
              <a:rPr lang="ru-RU" dirty="0"/>
              <a:t>навсегда останется </a:t>
            </a:r>
            <a:r>
              <a:rPr lang="en-US" dirty="0"/>
              <a:t>inline</a:t>
            </a:r>
            <a:r>
              <a:rPr lang="ru-RU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51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Аргументы по умолчанию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8270" y="1273833"/>
            <a:ext cx="110509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Параметры передаваемые в функцию могут иметь значение по умолчанию, и не требовать в обязательном порядке своей передачи.</a:t>
            </a:r>
          </a:p>
          <a:p>
            <a:r>
              <a:rPr lang="ru-RU" dirty="0"/>
              <a:t>Сигнатура</a:t>
            </a:r>
            <a:r>
              <a:rPr lang="en-US" dirty="0"/>
              <a:t>:</a:t>
            </a:r>
            <a:endParaRPr lang="ru-RU" dirty="0"/>
          </a:p>
          <a:p>
            <a:r>
              <a:rPr lang="en-US" dirty="0">
                <a:solidFill>
                  <a:srgbClr val="000000"/>
                </a:solidFill>
              </a:rPr>
              <a:t>&lt;</a:t>
            </a:r>
            <a:r>
              <a:rPr lang="ru-RU" dirty="0">
                <a:solidFill>
                  <a:srgbClr val="000000"/>
                </a:solidFill>
              </a:rPr>
              <a:t>тип возвращаемого </a:t>
            </a:r>
            <a:r>
              <a:rPr lang="ru-RU" dirty="0" err="1">
                <a:solidFill>
                  <a:srgbClr val="000000"/>
                </a:solidFill>
              </a:rPr>
              <a:t>значниея</a:t>
            </a:r>
            <a:r>
              <a:rPr lang="en-US" dirty="0">
                <a:solidFill>
                  <a:srgbClr val="000000"/>
                </a:solidFill>
              </a:rPr>
              <a:t>&gt;</a:t>
            </a:r>
            <a:r>
              <a:rPr lang="ru-RU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&lt;</a:t>
            </a:r>
            <a:r>
              <a:rPr lang="ru-RU" dirty="0">
                <a:solidFill>
                  <a:srgbClr val="000000"/>
                </a:solidFill>
              </a:rPr>
              <a:t>название функции</a:t>
            </a:r>
            <a:r>
              <a:rPr lang="en-US" dirty="0">
                <a:solidFill>
                  <a:srgbClr val="000000"/>
                </a:solidFill>
              </a:rPr>
              <a:t>&gt;</a:t>
            </a:r>
            <a:r>
              <a:rPr lang="ru-RU" dirty="0">
                <a:solidFill>
                  <a:srgbClr val="000000"/>
                </a:solidFill>
              </a:rPr>
              <a:t>(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&lt;</a:t>
            </a:r>
            <a:r>
              <a:rPr lang="ru-RU" dirty="0">
                <a:solidFill>
                  <a:srgbClr val="000000"/>
                </a:solidFill>
              </a:rPr>
              <a:t>параметры не имеющие значения по умолчанию</a:t>
            </a:r>
            <a:r>
              <a:rPr lang="en-US" dirty="0">
                <a:solidFill>
                  <a:srgbClr val="000000"/>
                </a:solidFill>
              </a:rPr>
              <a:t>&gt;…,</a:t>
            </a:r>
            <a:endParaRPr lang="ru-RU" dirty="0">
              <a:solidFill>
                <a:srgbClr val="000000"/>
              </a:solidFill>
            </a:endParaRPr>
          </a:p>
          <a:p>
            <a:pPr lvl="1"/>
            <a:r>
              <a:rPr lang="en-US" dirty="0">
                <a:solidFill>
                  <a:srgbClr val="000000"/>
                </a:solidFill>
              </a:rPr>
              <a:t>&lt;</a:t>
            </a:r>
            <a:r>
              <a:rPr lang="ru-RU" dirty="0">
                <a:solidFill>
                  <a:srgbClr val="000000"/>
                </a:solidFill>
              </a:rPr>
              <a:t>тип параметра со значением по умолчанию</a:t>
            </a:r>
            <a:r>
              <a:rPr lang="en-US" dirty="0">
                <a:solidFill>
                  <a:srgbClr val="000000"/>
                </a:solidFill>
              </a:rPr>
              <a:t>&gt;</a:t>
            </a:r>
            <a:r>
              <a:rPr lang="ru-RU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&lt;</a:t>
            </a:r>
            <a:r>
              <a:rPr lang="ru-RU" dirty="0">
                <a:solidFill>
                  <a:srgbClr val="000000"/>
                </a:solidFill>
              </a:rPr>
              <a:t>название</a:t>
            </a:r>
            <a:r>
              <a:rPr lang="en-US" dirty="0">
                <a:solidFill>
                  <a:srgbClr val="000000"/>
                </a:solidFill>
              </a:rPr>
              <a:t>&gt;</a:t>
            </a:r>
            <a:r>
              <a:rPr lang="ru-RU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=</a:t>
            </a:r>
            <a:r>
              <a:rPr lang="ru-RU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&lt;</a:t>
            </a:r>
            <a:r>
              <a:rPr lang="ru-RU" dirty="0">
                <a:solidFill>
                  <a:srgbClr val="000000"/>
                </a:solidFill>
              </a:rPr>
              <a:t>значение</a:t>
            </a:r>
            <a:r>
              <a:rPr lang="en-US" dirty="0">
                <a:solidFill>
                  <a:srgbClr val="000000"/>
                </a:solidFill>
              </a:rPr>
              <a:t>&gt;, </a:t>
            </a:r>
            <a:endParaRPr lang="ru-RU" dirty="0">
              <a:solidFill>
                <a:srgbClr val="000000"/>
              </a:solidFill>
            </a:endParaRPr>
          </a:p>
          <a:p>
            <a:pPr lvl="1"/>
            <a:r>
              <a:rPr lang="en-US" dirty="0">
                <a:solidFill>
                  <a:srgbClr val="000000"/>
                </a:solidFill>
              </a:rPr>
              <a:t>…&lt;</a:t>
            </a:r>
            <a:r>
              <a:rPr lang="ru-RU" dirty="0">
                <a:solidFill>
                  <a:srgbClr val="000000"/>
                </a:solidFill>
              </a:rPr>
              <a:t>только параметры имеющие значение по умолчанию</a:t>
            </a:r>
            <a:r>
              <a:rPr lang="en-US" dirty="0">
                <a:solidFill>
                  <a:srgbClr val="000000"/>
                </a:solidFill>
              </a:rPr>
              <a:t>&gt;</a:t>
            </a:r>
            <a:endParaRPr lang="ru-RU" dirty="0">
              <a:solidFill>
                <a:srgbClr val="000000"/>
              </a:solidFill>
            </a:endParaRPr>
          </a:p>
          <a:p>
            <a:r>
              <a:rPr lang="ru-RU" dirty="0">
                <a:solidFill>
                  <a:srgbClr val="000000"/>
                </a:solidFill>
              </a:rPr>
              <a:t>)</a:t>
            </a:r>
            <a:r>
              <a:rPr lang="en-US" dirty="0">
                <a:solidFill>
                  <a:srgbClr val="000000"/>
                </a:solidFill>
              </a:rPr>
              <a:t>;</a:t>
            </a:r>
            <a:endParaRPr lang="en-US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3015759" y="3582157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print(string word, string after =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 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word &lt;&lt; after;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main(){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print(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Hellow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print(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"World"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"\n------------\n"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 // 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Hellow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World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 // ------------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41127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Перегрузка функции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417" y="1335388"/>
            <a:ext cx="110509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Работа с функциями часто требует использования одной и той же функции для разных типов.</a:t>
            </a:r>
            <a:r>
              <a:rPr lang="en-US" dirty="0"/>
              <a:t> </a:t>
            </a:r>
            <a:r>
              <a:rPr lang="ru-RU" dirty="0"/>
              <a:t>Глупо для таких функций иметь разные названия, поэтому в с++ есть механизм перегрузки функции(</a:t>
            </a:r>
            <a:r>
              <a:rPr lang="en-US" dirty="0"/>
              <a:t>overload) – </a:t>
            </a:r>
            <a:r>
              <a:rPr lang="ru-RU" dirty="0"/>
              <a:t>при котором множество функций имеют одно название но разный список параметров. Тип возвращаемого значения роли не играет.</a:t>
            </a:r>
            <a:endParaRPr lang="en-US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493417" y="2535717"/>
            <a:ext cx="5567707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square(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x){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x * x;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square_d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x){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x * x;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long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square_l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long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x){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x * x;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main(){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13.456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n 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long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ln 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: 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square(n) &lt;&lt;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“double: “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square_d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 &lt;&lt;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“long: “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square_l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(ln) &lt;&lt;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5518059" y="5548328"/>
            <a:ext cx="204910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err="1"/>
              <a:t>int</a:t>
            </a:r>
            <a:r>
              <a:rPr lang="ru-RU" sz="1400" dirty="0"/>
              <a:t>: 4</a:t>
            </a:r>
          </a:p>
          <a:p>
            <a:r>
              <a:rPr lang="ru-RU" sz="1400" dirty="0" err="1"/>
              <a:t>double</a:t>
            </a:r>
            <a:r>
              <a:rPr lang="ru-RU" sz="1400" dirty="0"/>
              <a:t>: 181.064</a:t>
            </a:r>
          </a:p>
          <a:p>
            <a:r>
              <a:rPr lang="ru-RU" sz="1400" dirty="0" err="1"/>
              <a:t>long</a:t>
            </a:r>
            <a:r>
              <a:rPr lang="ru-RU" sz="1400" dirty="0"/>
              <a:t>: 10000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7393377" y="2535717"/>
            <a:ext cx="4151018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square(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x){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: 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x * x &lt;&lt;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square(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x){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"double: 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x * x &lt;&lt;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square(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long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x){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"long: 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x * x &lt;&lt;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main(){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13.456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n 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long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ln 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square(n);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square(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square(ln);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2873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Указатель на функцию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8270" y="1102578"/>
            <a:ext cx="110509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 С++ существуют указатели на функции.</a:t>
            </a:r>
          </a:p>
          <a:p>
            <a:r>
              <a:rPr lang="ru-RU" dirty="0"/>
              <a:t>Сигнатура объявления указателя на функцию</a:t>
            </a:r>
            <a:r>
              <a:rPr lang="en-US" dirty="0"/>
              <a:t>:</a:t>
            </a:r>
          </a:p>
          <a:p>
            <a:r>
              <a:rPr lang="en-US" dirty="0"/>
              <a:t>&lt;</a:t>
            </a:r>
            <a:r>
              <a:rPr lang="ru-RU" dirty="0"/>
              <a:t>тип возвращаемого значения</a:t>
            </a:r>
            <a:r>
              <a:rPr lang="en-US" dirty="0"/>
              <a:t>&gt; (*&lt;</a:t>
            </a:r>
            <a:r>
              <a:rPr lang="ru-RU" dirty="0"/>
              <a:t>название указателя</a:t>
            </a:r>
            <a:r>
              <a:rPr lang="en-US" dirty="0"/>
              <a:t>&gt;)(&lt;</a:t>
            </a:r>
            <a:r>
              <a:rPr lang="ru-RU" dirty="0"/>
              <a:t>аргументы функции</a:t>
            </a:r>
            <a:r>
              <a:rPr lang="en-US" dirty="0"/>
              <a:t>&gt;) = &lt;</a:t>
            </a:r>
            <a:r>
              <a:rPr lang="ru-RU" dirty="0"/>
              <a:t>название функции</a:t>
            </a:r>
            <a:r>
              <a:rPr lang="en-US" dirty="0"/>
              <a:t>&gt;;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538270" y="2025908"/>
            <a:ext cx="1105097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square(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x)   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x * x;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for_each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double*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array, 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N,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(*function)(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)){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 N;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++){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array[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 = function(array[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print(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double*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array, 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N){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 N;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++){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array[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 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main(){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N 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array[N] = {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8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print(array, N);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for_each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(array, N, square);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print(array, N);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07118" y="5156024"/>
            <a:ext cx="61092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Указатели на функцию можно передавать как аргументы в функцию.</a:t>
            </a:r>
          </a:p>
          <a:p>
            <a:r>
              <a:rPr lang="ru-RU" dirty="0"/>
              <a:t>Указатели на функцию могут иметь синонимы.</a:t>
            </a:r>
          </a:p>
          <a:p>
            <a:r>
              <a:rPr lang="ru-RU" dirty="0"/>
              <a:t>Могут существовать массивы указателей на функции.</a:t>
            </a:r>
            <a:endParaRPr lang="en-US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574183" y="3398343"/>
            <a:ext cx="757516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for_each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double*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array,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N, function&lt;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)&gt; f){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N;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++){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array[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 = f(array[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45949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823331" y="3149823"/>
            <a:ext cx="4545339" cy="558354"/>
          </a:xfrm>
          <a:prstGeom prst="rect">
            <a:avLst/>
          </a:prstGeom>
          <a:noFill/>
        </p:spPr>
        <p:txBody>
          <a:bodyPr wrap="none" lIns="65274" tIns="32637" rIns="65274" bIns="32637" rtlCol="0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232309279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3466</TotalTime>
  <Words>1934</Words>
  <Application>Microsoft Office PowerPoint</Application>
  <PresentationFormat>Широкоэкранный</PresentationFormat>
  <Paragraphs>720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Light</vt:lpstr>
      <vt:lpstr>Consolas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Windows</dc:creator>
  <cp:lastModifiedBy>Пысин Максим Дмитриевич</cp:lastModifiedBy>
  <cp:revision>258</cp:revision>
  <dcterms:created xsi:type="dcterms:W3CDTF">2018-10-31T17:08:02Z</dcterms:created>
  <dcterms:modified xsi:type="dcterms:W3CDTF">2026-08-21T07:58:56Z</dcterms:modified>
</cp:coreProperties>
</file>